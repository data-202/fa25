
<file path=[Content_Types].xml><?xml version="1.0" encoding="utf-8"?>
<Types xmlns="http://schemas.openxmlformats.org/package/2006/content-types">
  <Default Extension="xml" ContentType="application/xml"/>
  <Default Extension="rels" ContentType="application/vnd.openxmlformats-package.relationships+xml"/>
  <Default Extension="png" ContentType="image/png"/>
  <Override PartName="/docProps/app.xml" ContentType="application/vnd.openxmlformats-officedocument.extended-properties+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theme/theme1.xml" ContentType="application/vnd.openxmlformats-officedocument.theme+xml"/>
  <Override PartName="/ppt/theme/theme2.xml" ContentType="application/vnd.openxmlformats-officedocument.theme+xml"/>
  <Override PartName="/ppt/presProps.xml" ContentType="application/vnd.openxmlformats-officedocument.presentationml.presProps+xml"/>
  <Override PartName="/ppt/tableStyles.xml" ContentType="application/vnd.openxmlformats-officedocument.presentationml.tableStyles+xml"/>
  <Override PartName="/docProps/core.xml" ContentType="application/vnd.openxmlformats-package.core-properties+xml"/>
  <Override PartName="/docProps/custom.xml" ContentType="application/vnd.openxmlformats-officedocument.custom-properties+xml"/>
  <Override PartName="/ppt/presentation.xml" ContentType="application/vnd.openxmlformats-officedocument.presentationml.presentation.main+xml"/>
  <Override PartName="/ppt/viewProps.xml" ContentType="application/vnd.openxmlformats-officedocument.presentationml.viewProps+xml"/>
  <Override PartName="/ppt/slides/slide1.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0.xml" ContentType="application/vnd.openxmlformats-officedocument.presentationml.slide+xml"/>
  <Override PartName="/ppt/slides/slide21.xml" ContentType="application/vnd.openxmlformats-officedocument.presentationml.slide+xml"/>
  <Override PartName="/ppt/slides/slide22.xml" ContentType="application/vnd.openxmlformats-officedocument.presentationml.slide+xml"/>
  <Override PartName="/ppt/slides/slide23.xml" ContentType="application/vnd.openxmlformats-officedocument.presentationml.slide+xml"/>
  <Override PartName="/ppt/slides/slide24.xml" ContentType="application/vnd.openxmlformats-officedocument.presentationml.slide+xml"/>
  <Override PartName="/ppt/slides/slide25.xml" ContentType="application/vnd.openxmlformats-officedocument.presentationml.slide+xml"/>
  <Override PartName="/ppt/slides/slide26.xml" ContentType="application/vnd.openxmlformats-officedocument.presentationml.slide+xml"/>
  <Override PartName="/ppt/slides/slide27.xml" ContentType="application/vnd.openxmlformats-officedocument.presentationml.slide+xml"/>
  <Override PartName="/ppt/slides/slide28.xml" ContentType="application/vnd.openxmlformats-officedocument.presentationml.slide+xml"/>
  <Override PartName="/ppt/slides/slide29.xml" ContentType="application/vnd.openxmlformats-officedocument.presentationml.slide+xml"/>
  <Override PartName="/ppt/slides/slide30.xml" ContentType="application/vnd.openxmlformats-officedocument.presentationml.slide+xml"/>
  <Override PartName="/ppt/slides/slide31.xml" ContentType="application/vnd.openxmlformats-officedocument.presentationml.slide+xml"/>
  <Override PartName="/ppt/slides/slide32.xml" ContentType="application/vnd.openxmlformats-officedocument.presentationml.slide+xml"/>
  <Override PartName="/ppt/slides/slide33.xml" ContentType="application/vnd.openxmlformats-officedocument.presentationml.slide+xml"/>
  <Override PartName="/ppt/slides/slide34.xml" ContentType="application/vnd.openxmlformats-officedocument.presentationml.slide+xml"/>
  <Override PartName="/ppt/slides/slide35.xml" ContentType="application/vnd.openxmlformats-officedocument.presentationml.slide+xml"/>
  <Override PartName="/ppt/slides/slide36.xml" ContentType="application/vnd.openxmlformats-officedocument.presentationml.slide+xml"/>
  <Override PartName="/ppt/slides/slide37.xml" ContentType="application/vnd.openxmlformats-officedocument.presentationml.slide+xml"/>
  <Override PartName="/ppt/slides/slide38.xml" ContentType="application/vnd.openxmlformats-officedocument.presentationml.slide+xml"/>
  <Override PartName="/ppt/slides/slide39.xml" ContentType="application/vnd.openxmlformats-officedocument.presentationml.slide+xml"/>
  <Override PartName="/ppt/slides/slide40.xml" ContentType="application/vnd.openxmlformats-officedocument.presentationml.slide+xml"/>
  <Override PartName="/ppt/slides/slide41.xml" ContentType="application/vnd.openxmlformats-officedocument.presentationml.slide+xml"/>
  <Override PartName="/ppt/slides/slide42.xml" ContentType="application/vnd.openxmlformats-officedocument.presentationml.slide+xml"/>
  <Override PartName="/ppt/slides/slide43.xml" ContentType="application/vnd.openxmlformats-officedocument.presentationml.slide+xml"/>
  <Override PartName="/ppt/slides/slide44.xml" ContentType="application/vnd.openxmlformats-officedocument.presentationml.slide+xml"/>
  <Override PartName="/ppt/slides/slide45.xml" ContentType="application/vnd.openxmlformats-officedocument.presentationml.slide+xml"/>
  <Override PartName="/ppt/slides/slide46.xml" ContentType="application/vnd.openxmlformats-officedocument.presentationml.slide+xml"/>
  <Override PartName="/ppt/slides/slide47.xml" ContentType="application/vnd.openxmlformats-officedocument.presentationml.slide+xml"/>
  <Override PartName="/ppt/slides/slide48.xml" ContentType="application/vnd.openxmlformats-officedocument.presentationml.slide+xml"/>
  <Override PartName="/ppt/slides/slide49.xml" ContentType="application/vnd.openxmlformats-officedocument.presentationml.slide+xml"/>
  <Override PartName="/ppt/slides/slide50.xml" ContentType="application/vnd.openxmlformats-officedocument.presentationml.slide+xml"/>
  <Override PartName="/ppt/slides/slide51.xml" ContentType="application/vnd.openxmlformats-officedocument.presentationml.slide+xml"/>
  <Override PartName="/ppt/slides/slide52.xml" ContentType="application/vnd.openxmlformats-officedocument.presentationml.slide+xml"/>
  <Override PartName="/ppt/slides/slide53.xml" ContentType="application/vnd.openxmlformats-officedocument.presentationml.slide+xml"/>
</Types>
</file>

<file path=_rels/.rels><?xml version="1.0" encoding="UTF-8"?><Relationships xmlns="http://schemas.openxmlformats.org/package/2006/relationships"><Relationship Id="rId1" Type="http://schemas.openxmlformats.org/officeDocument/2006/relationships/officeDocument" Target="ppt/presentation.xml" /><Relationship Id="rId2" Type="http://schemas.openxmlformats.org/package/2006/relationships/metadata/core-properties" Target="docProps/core.xml" /><Relationship Id="rId3" Type="http://schemas.openxmlformats.org/package/2006/relationships/metadata/extended-properties" Target="docProps/app.xml" /><Relationship Id="rId4" Type="http://schemas.openxmlformats.org/officeDocument/2006/relationships/custom-properties" Target="docProps/custom.xml" /></Relationships>
</file>

<file path=ppt/presentation.xml><?xml version="1.0" encoding="utf-8"?>
<p:presentation xmlns:a="http://schemas.openxmlformats.org/drawingml/2006/main" xmlns:p="http://schemas.openxmlformats.org/presentationml/2006/main" xmlns:r="http://schemas.openxmlformats.org/officeDocument/2006/relationships" autoCompressPictures="0" saveSubsetFonts="1">
  <p:sldMasterIdLst>
    <p:sldMasterId id="2147483648" r:id="rId1"/>
  </p:sldMasterIdLst>
  <p:sldIdLst>
    <p:sldId id="256" r:id="rId2"/>
    <p:sldId id="257" r:id="rId3"/>
    <p:sldId id="258" r:id="rId4"/>
    <p:sldId id="259" r:id="rId5"/>
    <p:sldId id="260" r:id="rId6"/>
    <p:sldId id="261" r:id="rId7"/>
    <p:sldId id="262" r:id="rId8"/>
    <p:sldId id="263" r:id="rId9"/>
    <p:sldId id="264" r:id="rId10"/>
    <p:sldId id="265" r:id="rId11"/>
    <p:sldId id="266" r:id="rId12"/>
    <p:sldId id="267" r:id="rId13"/>
    <p:sldId id="268" r:id="rId14"/>
    <p:sldId id="269" r:id="rId15"/>
    <p:sldId id="270" r:id="rId16"/>
    <p:sldId id="271" r:id="rId17"/>
    <p:sldId id="272" r:id="rId18"/>
    <p:sldId id="273" r:id="rId19"/>
    <p:sldId id="274" r:id="rId20"/>
    <p:sldId id="275" r:id="rId21"/>
    <p:sldId id="276" r:id="rId22"/>
    <p:sldId id="277" r:id="rId23"/>
    <p:sldId id="278" r:id="rId24"/>
    <p:sldId id="279" r:id="rId25"/>
    <p:sldId id="280" r:id="rId26"/>
    <p:sldId id="281" r:id="rId27"/>
    <p:sldId id="282" r:id="rId28"/>
    <p:sldId id="283" r:id="rId29"/>
    <p:sldId id="284" r:id="rId30"/>
    <p:sldId id="285" r:id="rId31"/>
    <p:sldId id="286" r:id="rId32"/>
    <p:sldId id="287" r:id="rId33"/>
    <p:sldId id="288" r:id="rId34"/>
    <p:sldId id="289" r:id="rId35"/>
    <p:sldId id="290" r:id="rId36"/>
    <p:sldId id="291" r:id="rId37"/>
    <p:sldId id="292" r:id="rId38"/>
    <p:sldId id="293" r:id="rId39"/>
    <p:sldId id="294" r:id="rId40"/>
    <p:sldId id="295" r:id="rId41"/>
    <p:sldId id="296" r:id="rId42"/>
    <p:sldId id="297" r:id="rId43"/>
    <p:sldId id="298" r:id="rId44"/>
    <p:sldId id="299" r:id="rId45"/>
    <p:sldId id="300" r:id="rId46"/>
    <p:sldId id="301" r:id="rId47"/>
    <p:sldId id="302" r:id="rId48"/>
    <p:sldId id="303" r:id="rId49"/>
    <p:sldId id="304" r:id="rId50"/>
    <p:sldId id="305" r:id="rId51"/>
    <p:sldId id="306" r:id="rId52"/>
    <p:sldId id="307" r:id="rId53"/>
    <p:sldId id="308" r:id="rId54"/>
  </p:sldIdLst>
  <p:sldSz cx="9144000" cy="5143500" type="screen16x9"/>
  <p:notesSz cx="6858000" cy="9144000"/>
  <p:defaultTextStyle>
    <a:defPPr>
      <a:defRPr lang="en-US"/>
    </a:defPPr>
    <a:lvl1pPr algn="l" defTabSz="457200" eaLnBrk="1" hangingPunct="1" latinLnBrk="0" marL="0" rtl="0">
      <a:defRPr kern="1200" sz="1800">
        <a:solidFill>
          <a:schemeClr val="tx1"/>
        </a:solidFill>
        <a:latin typeface="+mn-lt"/>
        <a:ea typeface="+mn-ea"/>
        <a:cs typeface="+mn-cs"/>
      </a:defRPr>
    </a:lvl1pPr>
    <a:lvl2pPr algn="l" defTabSz="457200" eaLnBrk="1" hangingPunct="1" latinLnBrk="0" marL="457200" rtl="0">
      <a:defRPr kern="1200" sz="1800">
        <a:solidFill>
          <a:schemeClr val="tx1"/>
        </a:solidFill>
        <a:latin typeface="+mn-lt"/>
        <a:ea typeface="+mn-ea"/>
        <a:cs typeface="+mn-cs"/>
      </a:defRPr>
    </a:lvl2pPr>
    <a:lvl3pPr algn="l" defTabSz="457200" eaLnBrk="1" hangingPunct="1" latinLnBrk="0" marL="914400" rtl="0">
      <a:defRPr kern="1200" sz="1800">
        <a:solidFill>
          <a:schemeClr val="tx1"/>
        </a:solidFill>
        <a:latin typeface="+mn-lt"/>
        <a:ea typeface="+mn-ea"/>
        <a:cs typeface="+mn-cs"/>
      </a:defRPr>
    </a:lvl3pPr>
    <a:lvl4pPr algn="l" defTabSz="457200" eaLnBrk="1" hangingPunct="1" latinLnBrk="0" marL="1371600" rtl="0">
      <a:defRPr kern="1200" sz="1800">
        <a:solidFill>
          <a:schemeClr val="tx1"/>
        </a:solidFill>
        <a:latin typeface="+mn-lt"/>
        <a:ea typeface="+mn-ea"/>
        <a:cs typeface="+mn-cs"/>
      </a:defRPr>
    </a:lvl4pPr>
    <a:lvl5pPr algn="l" defTabSz="457200" eaLnBrk="1" hangingPunct="1" latinLnBrk="0" marL="1828800" rtl="0">
      <a:defRPr kern="1200" sz="1800">
        <a:solidFill>
          <a:schemeClr val="tx1"/>
        </a:solidFill>
        <a:latin typeface="+mn-lt"/>
        <a:ea typeface="+mn-ea"/>
        <a:cs typeface="+mn-cs"/>
      </a:defRPr>
    </a:lvl5pPr>
    <a:lvl6pPr algn="l" defTabSz="457200" eaLnBrk="1" hangingPunct="1" latinLnBrk="0" marL="2286000" rtl="0">
      <a:defRPr kern="1200" sz="1800">
        <a:solidFill>
          <a:schemeClr val="tx1"/>
        </a:solidFill>
        <a:latin typeface="+mn-lt"/>
        <a:ea typeface="+mn-ea"/>
        <a:cs typeface="+mn-cs"/>
      </a:defRPr>
    </a:lvl6pPr>
    <a:lvl7pPr algn="l" defTabSz="457200" eaLnBrk="1" hangingPunct="1" latinLnBrk="0" marL="2743200" rtl="0">
      <a:defRPr kern="1200" sz="1800">
        <a:solidFill>
          <a:schemeClr val="tx1"/>
        </a:solidFill>
        <a:latin typeface="+mn-lt"/>
        <a:ea typeface="+mn-ea"/>
        <a:cs typeface="+mn-cs"/>
      </a:defRPr>
    </a:lvl7pPr>
    <a:lvl8pPr algn="l" defTabSz="457200" eaLnBrk="1" hangingPunct="1" latinLnBrk="0" marL="3200400" rtl="0">
      <a:defRPr kern="1200" sz="1800">
        <a:solidFill>
          <a:schemeClr val="tx1"/>
        </a:solidFill>
        <a:latin typeface="+mn-lt"/>
        <a:ea typeface="+mn-ea"/>
        <a:cs typeface="+mn-cs"/>
      </a:defRPr>
    </a:lvl8pPr>
    <a:lvl9pPr algn="l" defTabSz="457200" eaLnBrk="1" hangingPunct="1" latinLnBrk="0" marL="3657600" rtl="0">
      <a:defRPr kern="1200" sz="1800">
        <a:solidFill>
          <a:schemeClr val="tx1"/>
        </a:solidFill>
        <a:latin typeface="+mn-lt"/>
        <a:ea typeface="+mn-ea"/>
        <a:cs typeface="+mn-cs"/>
      </a:defRPr>
    </a:lvl9pPr>
  </p:defaultTextStyle>
  <p:extLst>
    <p:ext uri="{EFAFB233-063F-42B5-8137-9DF3F51BA10A}">
      <p15:sldGuideLst xmlns:p15="http://schemas.microsoft.com/office/powerpoint/2012/main">
        <p15:guide id="1" orient="horz" pos="1620" userDrawn="1">
          <p15:clr>
            <a:srgbClr val="A4A3A4"/>
          </p15:clr>
        </p15:guide>
        <p15:guide id="2" pos="2880" userDrawn="1">
          <p15:clr>
            <a:srgbClr val="A4A3A4"/>
          </p15:clr>
        </p15:guide>
      </p15:sldGuideLst>
    </p:ext>
  </p:extLst>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 uri="{FD5EFAAD-0ECE-453E-9831-46B23BE46B34}">
      <p15:chartTrackingRefBased xmlns:p15="http://schemas.microsoft.com/office/powerpoint/2012/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p="http://schemas.openxmlformats.org/presentationml/2006/main" xmlns:r="http://schemas.openxmlformats.org/officeDocument/2006/relationships">
  <p:normalViewPr>
    <p:restoredLeft autoAdjust="0" sz="15643"/>
    <p:restoredTop autoAdjust="0" sz="94694"/>
  </p:normalViewPr>
  <p:slideViewPr>
    <p:cSldViewPr snapToGrid="0" snapToObjects="1">
      <p:cViewPr varScale="1">
        <p:scale>
          <a:sx d="100" n="161"/>
          <a:sy d="100" n="161"/>
        </p:scale>
        <p:origin x="560" y="200"/>
      </p:cViewPr>
      <p:guideLst>
        <p:guide orient="horz" pos="1620"/>
        <p:guide pos="2880"/>
      </p:guideLst>
    </p:cSldViewPr>
  </p:slideViewPr>
  <p:outlineViewPr>
    <p:cViewPr>
      <p:scale>
        <a:sx d="100" n="33"/>
        <a:sy d="100" n="33"/>
      </p:scale>
      <p:origin x="0" y="0"/>
    </p:cViewPr>
  </p:outlineViewPr>
  <p:notesTextViewPr>
    <p:cViewPr>
      <p:scale>
        <a:sx d="100" n="100"/>
        <a:sy d="100" n="100"/>
      </p:scale>
      <p:origin x="0" y="0"/>
    </p:cViewPr>
  </p:notesTextViewPr>
  <p:gridSpacing cx="76200" cy="76200"/>
</p:viewPr>
</file>

<file path=ppt/_rels/presentation.xml.rels><?xml version="1.0" encoding="UTF-8"?><Relationships xmlns="http://schemas.openxmlformats.org/package/2006/relationships"><Relationship Id="rId2" Type="http://schemas.openxmlformats.org/officeDocument/2006/relationships/slide" Target="slides/slide1.xml" /><Relationship Id="rId3" Type="http://schemas.openxmlformats.org/officeDocument/2006/relationships/slide" Target="slides/slide2.xml" /><Relationship Id="rId4" Type="http://schemas.openxmlformats.org/officeDocument/2006/relationships/slide" Target="slides/slide3.xml" /><Relationship Id="rId5" Type="http://schemas.openxmlformats.org/officeDocument/2006/relationships/slide" Target="slides/slide4.xml" /><Relationship Id="rId6" Type="http://schemas.openxmlformats.org/officeDocument/2006/relationships/slide" Target="slides/slide5.xml" /><Relationship Id="rId7" Type="http://schemas.openxmlformats.org/officeDocument/2006/relationships/slide" Target="slides/slide6.xml" /><Relationship Id="rId8" Type="http://schemas.openxmlformats.org/officeDocument/2006/relationships/slide" Target="slides/slide7.xml" /><Relationship Id="rId9" Type="http://schemas.openxmlformats.org/officeDocument/2006/relationships/slide" Target="slides/slide8.xml" /><Relationship Id="rId10" Type="http://schemas.openxmlformats.org/officeDocument/2006/relationships/slide" Target="slides/slide9.xml" /><Relationship Id="rId11" Type="http://schemas.openxmlformats.org/officeDocument/2006/relationships/slide" Target="slides/slide10.xml" /><Relationship Id="rId12" Type="http://schemas.openxmlformats.org/officeDocument/2006/relationships/slide" Target="slides/slide11.xml" /><Relationship Id="rId13" Type="http://schemas.openxmlformats.org/officeDocument/2006/relationships/slide" Target="slides/slide12.xml" /><Relationship Id="rId14" Type="http://schemas.openxmlformats.org/officeDocument/2006/relationships/slide" Target="slides/slide13.xml" /><Relationship Id="rId15" Type="http://schemas.openxmlformats.org/officeDocument/2006/relationships/slide" Target="slides/slide14.xml" /><Relationship Id="rId16" Type="http://schemas.openxmlformats.org/officeDocument/2006/relationships/slide" Target="slides/slide15.xml" /><Relationship Id="rId17" Type="http://schemas.openxmlformats.org/officeDocument/2006/relationships/slide" Target="slides/slide16.xml" /><Relationship Id="rId18" Type="http://schemas.openxmlformats.org/officeDocument/2006/relationships/slide" Target="slides/slide17.xml" /><Relationship Id="rId19" Type="http://schemas.openxmlformats.org/officeDocument/2006/relationships/slide" Target="slides/slide18.xml" /><Relationship Id="rId20" Type="http://schemas.openxmlformats.org/officeDocument/2006/relationships/slide" Target="slides/slide19.xml" /><Relationship Id="rId21" Type="http://schemas.openxmlformats.org/officeDocument/2006/relationships/slide" Target="slides/slide20.xml" /><Relationship Id="rId22" Type="http://schemas.openxmlformats.org/officeDocument/2006/relationships/slide" Target="slides/slide21.xml" /><Relationship Id="rId23" Type="http://schemas.openxmlformats.org/officeDocument/2006/relationships/slide" Target="slides/slide22.xml" /><Relationship Id="rId24" Type="http://schemas.openxmlformats.org/officeDocument/2006/relationships/slide" Target="slides/slide23.xml" /><Relationship Id="rId25" Type="http://schemas.openxmlformats.org/officeDocument/2006/relationships/slide" Target="slides/slide24.xml" /><Relationship Id="rId26" Type="http://schemas.openxmlformats.org/officeDocument/2006/relationships/slide" Target="slides/slide25.xml" /><Relationship Id="rId27" Type="http://schemas.openxmlformats.org/officeDocument/2006/relationships/slide" Target="slides/slide26.xml" /><Relationship Id="rId28" Type="http://schemas.openxmlformats.org/officeDocument/2006/relationships/slide" Target="slides/slide27.xml" /><Relationship Id="rId29" Type="http://schemas.openxmlformats.org/officeDocument/2006/relationships/slide" Target="slides/slide28.xml" /><Relationship Id="rId30" Type="http://schemas.openxmlformats.org/officeDocument/2006/relationships/slide" Target="slides/slide29.xml" /><Relationship Id="rId31" Type="http://schemas.openxmlformats.org/officeDocument/2006/relationships/slide" Target="slides/slide30.xml" /><Relationship Id="rId32" Type="http://schemas.openxmlformats.org/officeDocument/2006/relationships/slide" Target="slides/slide31.xml" /><Relationship Id="rId33" Type="http://schemas.openxmlformats.org/officeDocument/2006/relationships/slide" Target="slides/slide32.xml" /><Relationship Id="rId34" Type="http://schemas.openxmlformats.org/officeDocument/2006/relationships/slide" Target="slides/slide33.xml" /><Relationship Id="rId35" Type="http://schemas.openxmlformats.org/officeDocument/2006/relationships/slide" Target="slides/slide34.xml" /><Relationship Id="rId36" Type="http://schemas.openxmlformats.org/officeDocument/2006/relationships/slide" Target="slides/slide35.xml" /><Relationship Id="rId37" Type="http://schemas.openxmlformats.org/officeDocument/2006/relationships/slide" Target="slides/slide36.xml" /><Relationship Id="rId38" Type="http://schemas.openxmlformats.org/officeDocument/2006/relationships/slide" Target="slides/slide37.xml" /><Relationship Id="rId39" Type="http://schemas.openxmlformats.org/officeDocument/2006/relationships/slide" Target="slides/slide38.xml" /><Relationship Id="rId40" Type="http://schemas.openxmlformats.org/officeDocument/2006/relationships/slide" Target="slides/slide39.xml" /><Relationship Id="rId41" Type="http://schemas.openxmlformats.org/officeDocument/2006/relationships/slide" Target="slides/slide40.xml" /><Relationship Id="rId42" Type="http://schemas.openxmlformats.org/officeDocument/2006/relationships/slide" Target="slides/slide41.xml" /><Relationship Id="rId43" Type="http://schemas.openxmlformats.org/officeDocument/2006/relationships/slide" Target="slides/slide42.xml" /><Relationship Id="rId44" Type="http://schemas.openxmlformats.org/officeDocument/2006/relationships/slide" Target="slides/slide43.xml" /><Relationship Id="rId45" Type="http://schemas.openxmlformats.org/officeDocument/2006/relationships/slide" Target="slides/slide44.xml" /><Relationship Id="rId46" Type="http://schemas.openxmlformats.org/officeDocument/2006/relationships/slide" Target="slides/slide45.xml" /><Relationship Id="rId47" Type="http://schemas.openxmlformats.org/officeDocument/2006/relationships/slide" Target="slides/slide46.xml" /><Relationship Id="rId48" Type="http://schemas.openxmlformats.org/officeDocument/2006/relationships/slide" Target="slides/slide47.xml" /><Relationship Id="rId49" Type="http://schemas.openxmlformats.org/officeDocument/2006/relationships/slide" Target="slides/slide48.xml" /><Relationship Id="rId50" Type="http://schemas.openxmlformats.org/officeDocument/2006/relationships/slide" Target="slides/slide49.xml" /><Relationship Id="rId51" Type="http://schemas.openxmlformats.org/officeDocument/2006/relationships/slide" Target="slides/slide50.xml" /><Relationship Id="rId52" Type="http://schemas.openxmlformats.org/officeDocument/2006/relationships/slide" Target="slides/slide51.xml" /><Relationship Id="rId53" Type="http://schemas.openxmlformats.org/officeDocument/2006/relationships/slide" Target="slides/slide52.xml" /><Relationship Id="rId54" Type="http://schemas.openxmlformats.org/officeDocument/2006/relationships/slide" Target="slides/slide53.xml" /><Relationship Id="rId56" Type="http://schemas.openxmlformats.org/officeDocument/2006/relationships/viewProps" Target="viewProps.xml" /><Relationship Id="rId55" Type="http://schemas.openxmlformats.org/officeDocument/2006/relationships/presProps" Target="presProps.xml" /><Relationship Id="rId1" Type="http://schemas.openxmlformats.org/officeDocument/2006/relationships/slideMaster" Target="slideMasters/slideMaster1.xml" /><Relationship Id="rId58" Type="http://schemas.openxmlformats.org/officeDocument/2006/relationships/tableStyles" Target="tableStyles.xml" /><Relationship Id="rId57" Type="http://schemas.openxmlformats.org/officeDocument/2006/relationships/theme" Target="theme/theme1.xml" /></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r>
              <a:rPr lang="en-US"/>
              <a:t>Click to edit Master title style</a:t>
            </a:r>
          </a:p>
        </p:txBody>
      </p:sp>
      <p:sp>
        <p:nvSpPr>
          <p:cNvPr id="3" name="Subtitle 2"/>
          <p:cNvSpPr>
            <a:spLocks noGrp="1"/>
          </p:cNvSpPr>
          <p:nvPr>
            <p:ph type="subTitle" idx="1"/>
          </p:nvPr>
        </p:nvSpPr>
        <p:spPr>
          <a:xfrm>
            <a:off x="1371600" y="2914650"/>
            <a:ext cx="6400800" cy="1314450"/>
          </a:xfrm>
        </p:spPr>
        <p:txBody>
          <a:bodyPr/>
          <a:lstStyle>
            <a:lvl1pPr marL="0" indent="0" algn="ctr">
              <a:buNone/>
              <a:defRPr>
                <a:solidFill>
                  <a:schemeClr val="tx1">
                    <a:tint val="75000"/>
                  </a:schemeClr>
                </a:solidFill>
              </a:defRPr>
            </a:lvl1pPr>
            <a:lvl2pPr marL="342900" indent="0" algn="ctr">
              <a:buNone/>
              <a:defRPr>
                <a:solidFill>
                  <a:schemeClr val="tx1">
                    <a:tint val="75000"/>
                  </a:schemeClr>
                </a:solidFill>
              </a:defRPr>
            </a:lvl2pPr>
            <a:lvl3pPr marL="685800" indent="0" algn="ctr">
              <a:buNone/>
              <a:defRPr>
                <a:solidFill>
                  <a:schemeClr val="tx1">
                    <a:tint val="75000"/>
                  </a:schemeClr>
                </a:solidFill>
              </a:defRPr>
            </a:lvl3pPr>
            <a:lvl4pPr marL="1028700" indent="0" algn="ctr">
              <a:buNone/>
              <a:defRPr>
                <a:solidFill>
                  <a:schemeClr val="tx1">
                    <a:tint val="75000"/>
                  </a:schemeClr>
                </a:solidFill>
              </a:defRPr>
            </a:lvl4pPr>
            <a:lvl5pPr marL="1371600" indent="0" algn="ctr">
              <a:buNone/>
              <a:defRPr>
                <a:solidFill>
                  <a:schemeClr val="tx1">
                    <a:tint val="75000"/>
                  </a:schemeClr>
                </a:solidFill>
              </a:defRPr>
            </a:lvl5pPr>
            <a:lvl6pPr marL="1714500" indent="0" algn="ctr">
              <a:buNone/>
              <a:defRPr>
                <a:solidFill>
                  <a:schemeClr val="tx1">
                    <a:tint val="75000"/>
                  </a:schemeClr>
                </a:solidFill>
              </a:defRPr>
            </a:lvl6pPr>
            <a:lvl7pPr marL="2057400" indent="0" algn="ctr">
              <a:buNone/>
              <a:defRPr>
                <a:solidFill>
                  <a:schemeClr val="tx1">
                    <a:tint val="75000"/>
                  </a:schemeClr>
                </a:solidFill>
              </a:defRPr>
            </a:lvl7pPr>
            <a:lvl8pPr marL="2400300" indent="0" algn="ctr">
              <a:buNone/>
              <a:defRPr>
                <a:solidFill>
                  <a:schemeClr val="tx1">
                    <a:tint val="75000"/>
                  </a:schemeClr>
                </a:solidFill>
              </a:defRPr>
            </a:lvl8pPr>
            <a:lvl9pPr marL="2743200" indent="0" algn="ctr">
              <a:buNone/>
              <a:defRPr>
                <a:solidFill>
                  <a:schemeClr val="tx1">
                    <a:tint val="75000"/>
                  </a:schemeClr>
                </a:solidFill>
              </a:defRPr>
            </a:lvl9pPr>
          </a:lstStyle>
          <a:p>
            <a:r>
              <a:rPr lang="en-US"/>
              <a:t>Click to edit Master subtitle style</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44435751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idx="1"/>
          </p:nvPr>
        </p:nvSpPr>
        <p:spPr/>
        <p:txBody>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38346009"/>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nchor="t"/>
          <a:lstStyle>
            <a:lvl1pPr algn="l">
              <a:defRPr sz="3000" b="1" cap="all"/>
            </a:lvl1pPr>
          </a:lstStyle>
          <a:p>
            <a:r>
              <a:rPr lang="en-US"/>
              <a:t>Click to edit Master title style</a:t>
            </a:r>
          </a:p>
        </p:txBody>
      </p:sp>
      <p:sp>
        <p:nvSpPr>
          <p:cNvPr id="3" name="Text Placeholder 2"/>
          <p:cNvSpPr>
            <a:spLocks noGrp="1"/>
          </p:cNvSpPr>
          <p:nvPr>
            <p:ph type="body" idx="1"/>
          </p:nvPr>
        </p:nvSpPr>
        <p:spPr>
          <a:xfrm>
            <a:off x="722313" y="2180035"/>
            <a:ext cx="7772400" cy="1125140"/>
          </a:xfrm>
        </p:spPr>
        <p:txBody>
          <a:bodyPr anchor="b"/>
          <a:lstStyle>
            <a:lvl1pPr marL="0" indent="0">
              <a:buNone/>
              <a:defRPr sz="1500">
                <a:solidFill>
                  <a:schemeClr val="tx1">
                    <a:tint val="75000"/>
                  </a:schemeClr>
                </a:solidFill>
              </a:defRPr>
            </a:lvl1pPr>
            <a:lvl2pPr marL="342900" indent="0">
              <a:buNone/>
              <a:defRPr sz="1350">
                <a:solidFill>
                  <a:schemeClr val="tx1">
                    <a:tint val="75000"/>
                  </a:schemeClr>
                </a:solidFill>
              </a:defRPr>
            </a:lvl2pPr>
            <a:lvl3pPr marL="685800" indent="0">
              <a:buNone/>
              <a:defRPr sz="1200">
                <a:solidFill>
                  <a:schemeClr val="tx1">
                    <a:tint val="75000"/>
                  </a:schemeClr>
                </a:solidFill>
              </a:defRPr>
            </a:lvl3pPr>
            <a:lvl4pPr marL="1028700" indent="0">
              <a:buNone/>
              <a:defRPr sz="1050">
                <a:solidFill>
                  <a:schemeClr val="tx1">
                    <a:tint val="75000"/>
                  </a:schemeClr>
                </a:solidFill>
              </a:defRPr>
            </a:lvl4pPr>
            <a:lvl5pPr marL="1371600" indent="0">
              <a:buNone/>
              <a:defRPr sz="1050">
                <a:solidFill>
                  <a:schemeClr val="tx1">
                    <a:tint val="75000"/>
                  </a:schemeClr>
                </a:solidFill>
              </a:defRPr>
            </a:lvl5pPr>
            <a:lvl6pPr marL="1714500" indent="0">
              <a:buNone/>
              <a:defRPr sz="1050">
                <a:solidFill>
                  <a:schemeClr val="tx1">
                    <a:tint val="75000"/>
                  </a:schemeClr>
                </a:solidFill>
              </a:defRPr>
            </a:lvl6pPr>
            <a:lvl7pPr marL="2057400" indent="0">
              <a:buNone/>
              <a:defRPr sz="1050">
                <a:solidFill>
                  <a:schemeClr val="tx1">
                    <a:tint val="75000"/>
                  </a:schemeClr>
                </a:solidFill>
              </a:defRPr>
            </a:lvl7pPr>
            <a:lvl8pPr marL="2400300" indent="0">
              <a:buNone/>
              <a:defRPr sz="1050">
                <a:solidFill>
                  <a:schemeClr val="tx1">
                    <a:tint val="75000"/>
                  </a:schemeClr>
                </a:solidFill>
              </a:defRPr>
            </a:lvl8pPr>
            <a:lvl9pPr marL="2743200" indent="0">
              <a:buNone/>
              <a:defRPr sz="1050">
                <a:solidFill>
                  <a:schemeClr val="tx1">
                    <a:tint val="75000"/>
                  </a:schemeClr>
                </a:solidFill>
              </a:defRPr>
            </a:lvl9pPr>
          </a:lstStyle>
          <a:p>
            <a:pPr lvl="0"/>
            <a:r>
              <a:rPr lang="en-US"/>
              <a:t>Click to edit Master text styles</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1073069076"/>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Content Placeholder 2"/>
          <p:cNvSpPr>
            <a:spLocks noGrp="1"/>
          </p:cNvSpPr>
          <p:nvPr>
            <p:ph sz="half" idx="1"/>
          </p:nvPr>
        </p:nvSpPr>
        <p:spPr>
          <a:xfrm>
            <a:off x="457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Content Placeholder 3"/>
          <p:cNvSpPr>
            <a:spLocks noGrp="1"/>
          </p:cNvSpPr>
          <p:nvPr>
            <p:ph sz="half" idx="2"/>
          </p:nvPr>
        </p:nvSpPr>
        <p:spPr>
          <a:xfrm>
            <a:off x="4648200" y="1200151"/>
            <a:ext cx="4038600" cy="3394472"/>
          </a:xfrm>
        </p:spPr>
        <p:txBody>
          <a:bodyPr/>
          <a:lstStyle>
            <a:lvl1pPr>
              <a:defRPr sz="2100"/>
            </a:lvl1pPr>
            <a:lvl2pPr>
              <a:defRPr sz="1800"/>
            </a:lvl2pPr>
            <a:lvl3pPr>
              <a:defRPr sz="1500"/>
            </a:lvl3pPr>
            <a:lvl4pPr>
              <a:defRPr sz="1350"/>
            </a:lvl4pPr>
            <a:lvl5pPr>
              <a:defRPr sz="1350"/>
            </a:lvl5pPr>
            <a:lvl6pPr>
              <a:defRPr sz="1350"/>
            </a:lvl6pPr>
            <a:lvl7pPr>
              <a:defRPr sz="1350"/>
            </a:lvl7pPr>
            <a:lvl8pPr>
              <a:defRPr sz="1350"/>
            </a:lvl8pPr>
            <a:lvl9pPr>
              <a:defRPr sz="135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619886245"/>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a:t>Click to edit Master title style</a:t>
            </a:r>
          </a:p>
        </p:txBody>
      </p:sp>
      <p:sp>
        <p:nvSpPr>
          <p:cNvPr id="3" name="Text Placeholder 2"/>
          <p:cNvSpPr>
            <a:spLocks noGrp="1"/>
          </p:cNvSpPr>
          <p:nvPr>
            <p:ph type="body" idx="1"/>
          </p:nvPr>
        </p:nvSpPr>
        <p:spPr>
          <a:xfrm>
            <a:off x="457200" y="1151335"/>
            <a:ext cx="4040188"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4" name="Content Placeholder 3"/>
          <p:cNvSpPr>
            <a:spLocks noGrp="1"/>
          </p:cNvSpPr>
          <p:nvPr>
            <p:ph sz="half" idx="2"/>
          </p:nvPr>
        </p:nvSpPr>
        <p:spPr>
          <a:xfrm>
            <a:off x="457200" y="1631156"/>
            <a:ext cx="4040188"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5" name="Text Placeholder 4"/>
          <p:cNvSpPr>
            <a:spLocks noGrp="1"/>
          </p:cNvSpPr>
          <p:nvPr>
            <p:ph type="body" sz="quarter" idx="3"/>
          </p:nvPr>
        </p:nvSpPr>
        <p:spPr>
          <a:xfrm>
            <a:off x="4645026" y="1151335"/>
            <a:ext cx="4041775" cy="479822"/>
          </a:xfrm>
        </p:spPr>
        <p:txBody>
          <a:bodyPr anchor="b"/>
          <a:lstStyle>
            <a:lvl1pPr marL="0" indent="0">
              <a:buNone/>
              <a:defRPr sz="1800" b="1"/>
            </a:lvl1pPr>
            <a:lvl2pPr marL="342900" indent="0">
              <a:buNone/>
              <a:defRPr sz="1500" b="1"/>
            </a:lvl2pPr>
            <a:lvl3pPr marL="685800" indent="0">
              <a:buNone/>
              <a:defRPr sz="1350" b="1"/>
            </a:lvl3pPr>
            <a:lvl4pPr marL="1028700" indent="0">
              <a:buNone/>
              <a:defRPr sz="1200" b="1"/>
            </a:lvl4pPr>
            <a:lvl5pPr marL="1371600" indent="0">
              <a:buNone/>
              <a:defRPr sz="1200" b="1"/>
            </a:lvl5pPr>
            <a:lvl6pPr marL="1714500" indent="0">
              <a:buNone/>
              <a:defRPr sz="1200" b="1"/>
            </a:lvl6pPr>
            <a:lvl7pPr marL="2057400" indent="0">
              <a:buNone/>
              <a:defRPr sz="1200" b="1"/>
            </a:lvl7pPr>
            <a:lvl8pPr marL="2400300" indent="0">
              <a:buNone/>
              <a:defRPr sz="1200" b="1"/>
            </a:lvl8pPr>
            <a:lvl9pPr marL="2743200" indent="0">
              <a:buNone/>
              <a:defRPr sz="1200" b="1"/>
            </a:lvl9pPr>
          </a:lstStyle>
          <a:p>
            <a:pPr lvl="0"/>
            <a:r>
              <a:rPr lang="en-US"/>
              <a:t>Click to edit Master text styles</a:t>
            </a:r>
          </a:p>
        </p:txBody>
      </p:sp>
      <p:sp>
        <p:nvSpPr>
          <p:cNvPr id="6" name="Content Placeholder 5"/>
          <p:cNvSpPr>
            <a:spLocks noGrp="1"/>
          </p:cNvSpPr>
          <p:nvPr>
            <p:ph sz="quarter" idx="4"/>
          </p:nvPr>
        </p:nvSpPr>
        <p:spPr>
          <a:xfrm>
            <a:off x="4645026" y="1631156"/>
            <a:ext cx="4041775" cy="2963466"/>
          </a:xfrm>
        </p:spPr>
        <p:txBody>
          <a:bodyPr/>
          <a:lstStyle>
            <a:lvl1pPr>
              <a:defRPr sz="1800"/>
            </a:lvl1pPr>
            <a:lvl2pPr>
              <a:defRPr sz="1500"/>
            </a:lvl2pPr>
            <a:lvl3pPr>
              <a:defRPr sz="1350"/>
            </a:lvl3pPr>
            <a:lvl4pPr>
              <a:defRPr sz="1200"/>
            </a:lvl4pPr>
            <a:lvl5pPr>
              <a:defRPr sz="1200"/>
            </a:lvl5pPr>
            <a:lvl6pPr>
              <a:defRPr sz="1200"/>
            </a:lvl6pPr>
            <a:lvl7pPr>
              <a:defRPr sz="1200"/>
            </a:lvl7pPr>
            <a:lvl8pPr>
              <a:defRPr sz="1200"/>
            </a:lvl8pPr>
            <a:lvl9pPr>
              <a:defRPr sz="12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7" name="Date Placeholder 6"/>
          <p:cNvSpPr>
            <a:spLocks noGrp="1"/>
          </p:cNvSpPr>
          <p:nvPr>
            <p:ph type="dt" sz="half" idx="10"/>
          </p:nvPr>
        </p:nvSpPr>
        <p:spPr/>
        <p:txBody>
          <a:bodyPr/>
          <a:lstStyle/>
          <a:p>
            <a:fld id="{241EB5C9-1307-BA42-ABA2-0BC069CD8E7F}" type="datetimeFigureOut">
              <a:rPr lang="en-US" smtClean="0"/>
              <a:t>1/2/22</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35793967"/>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Date Placeholder 2"/>
          <p:cNvSpPr>
            <a:spLocks noGrp="1"/>
          </p:cNvSpPr>
          <p:nvPr>
            <p:ph type="dt" sz="half" idx="10"/>
          </p:nvPr>
        </p:nvSpPr>
        <p:spPr/>
        <p:txBody>
          <a:bodyPr/>
          <a:lstStyle/>
          <a:p>
            <a:fld id="{241EB5C9-1307-BA42-ABA2-0BC069CD8E7F}" type="datetimeFigureOut">
              <a:rPr lang="en-US" smtClean="0"/>
              <a:t>1/2/22</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472721253"/>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241EB5C9-1307-BA42-ABA2-0BC069CD8E7F}" type="datetimeFigureOut">
              <a:rPr lang="en-US" smtClean="0"/>
              <a:t>1/2/22</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130901097"/>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1" y="204787"/>
            <a:ext cx="3008313" cy="871538"/>
          </a:xfrm>
        </p:spPr>
        <p:txBody>
          <a:bodyPr anchor="b"/>
          <a:lstStyle>
            <a:lvl1pPr algn="l">
              <a:defRPr sz="1500" b="1"/>
            </a:lvl1pPr>
          </a:lstStyle>
          <a:p>
            <a:r>
              <a:rPr lang="en-US"/>
              <a:t>Click to edit Master title style</a:t>
            </a:r>
          </a:p>
        </p:txBody>
      </p:sp>
      <p:sp>
        <p:nvSpPr>
          <p:cNvPr id="3" name="Content Placeholder 2"/>
          <p:cNvSpPr>
            <a:spLocks noGrp="1"/>
          </p:cNvSpPr>
          <p:nvPr>
            <p:ph idx="1"/>
          </p:nvPr>
        </p:nvSpPr>
        <p:spPr>
          <a:xfrm>
            <a:off x="3575050" y="204788"/>
            <a:ext cx="5111750" cy="4389835"/>
          </a:xfrm>
        </p:spPr>
        <p:txBody>
          <a:bodyPr/>
          <a:lstStyle>
            <a:lvl1pPr>
              <a:defRPr sz="2400"/>
            </a:lvl1pPr>
            <a:lvl2pPr>
              <a:defRPr sz="2100"/>
            </a:lvl2pPr>
            <a:lvl3pPr>
              <a:defRPr sz="1800"/>
            </a:lvl3pPr>
            <a:lvl4pPr>
              <a:defRPr sz="1500"/>
            </a:lvl4pPr>
            <a:lvl5pPr>
              <a:defRPr sz="1500"/>
            </a:lvl5pPr>
            <a:lvl6pPr>
              <a:defRPr sz="1500"/>
            </a:lvl6pPr>
            <a:lvl7pPr>
              <a:defRPr sz="1500"/>
            </a:lvl7pPr>
            <a:lvl8pPr>
              <a:defRPr sz="1500"/>
            </a:lvl8pPr>
            <a:lvl9pPr>
              <a:defRPr sz="1500"/>
            </a:lvl9p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Text Placeholder 3"/>
          <p:cNvSpPr>
            <a:spLocks noGrp="1"/>
          </p:cNvSpPr>
          <p:nvPr>
            <p:ph type="body" sz="half" idx="2"/>
          </p:nvPr>
        </p:nvSpPr>
        <p:spPr>
          <a:xfrm>
            <a:off x="457201" y="1076326"/>
            <a:ext cx="3008313" cy="351829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40895647"/>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3600450"/>
            <a:ext cx="5486400" cy="425054"/>
          </a:xfrm>
        </p:spPr>
        <p:txBody>
          <a:bodyPr anchor="b"/>
          <a:lstStyle>
            <a:lvl1pPr algn="l">
              <a:defRPr sz="1500" b="1"/>
            </a:lvl1pPr>
          </a:lstStyle>
          <a:p>
            <a:r>
              <a:rPr lang="en-US"/>
              <a:t>Click to edit Master title style</a:t>
            </a:r>
          </a:p>
        </p:txBody>
      </p:sp>
      <p:sp>
        <p:nvSpPr>
          <p:cNvPr id="3" name="Picture Placeholder 2"/>
          <p:cNvSpPr>
            <a:spLocks noGrp="1"/>
          </p:cNvSpPr>
          <p:nvPr>
            <p:ph type="pic" idx="1"/>
          </p:nvPr>
        </p:nvSpPr>
        <p:spPr>
          <a:xfrm>
            <a:off x="1792288" y="459581"/>
            <a:ext cx="5486400" cy="3086100"/>
          </a:xfrm>
        </p:spPr>
        <p:txBody>
          <a:bodyPr/>
          <a:lstStyle>
            <a:lvl1pPr marL="0" indent="0">
              <a:buNone/>
              <a:defRPr sz="2400"/>
            </a:lvl1pPr>
            <a:lvl2pPr marL="342900" indent="0">
              <a:buNone/>
              <a:defRPr sz="2100"/>
            </a:lvl2pPr>
            <a:lvl3pPr marL="685800" indent="0">
              <a:buNone/>
              <a:defRPr sz="1800"/>
            </a:lvl3pPr>
            <a:lvl4pPr marL="1028700" indent="0">
              <a:buNone/>
              <a:defRPr sz="1500"/>
            </a:lvl4pPr>
            <a:lvl5pPr marL="1371600" indent="0">
              <a:buNone/>
              <a:defRPr sz="1500"/>
            </a:lvl5pPr>
            <a:lvl6pPr marL="1714500" indent="0">
              <a:buNone/>
              <a:defRPr sz="1500"/>
            </a:lvl6pPr>
            <a:lvl7pPr marL="2057400" indent="0">
              <a:buNone/>
              <a:defRPr sz="1500"/>
            </a:lvl7pPr>
            <a:lvl8pPr marL="2400300" indent="0">
              <a:buNone/>
              <a:defRPr sz="1500"/>
            </a:lvl8pPr>
            <a:lvl9pPr marL="2743200" indent="0">
              <a:buNone/>
              <a:defRPr sz="1500"/>
            </a:lvl9pPr>
          </a:lstStyle>
          <a:p>
            <a:endParaRPr lang="en-US"/>
          </a:p>
        </p:txBody>
      </p:sp>
      <p:sp>
        <p:nvSpPr>
          <p:cNvPr id="4" name="Text Placeholder 3"/>
          <p:cNvSpPr>
            <a:spLocks noGrp="1"/>
          </p:cNvSpPr>
          <p:nvPr>
            <p:ph type="body" sz="half" idx="2"/>
          </p:nvPr>
        </p:nvSpPr>
        <p:spPr>
          <a:xfrm>
            <a:off x="1792288" y="4025503"/>
            <a:ext cx="5486400" cy="603647"/>
          </a:xfrm>
        </p:spPr>
        <p:txBody>
          <a:bodyPr/>
          <a:lstStyle>
            <a:lvl1pPr marL="0" indent="0">
              <a:buNone/>
              <a:defRPr sz="1050"/>
            </a:lvl1pPr>
            <a:lvl2pPr marL="342900" indent="0">
              <a:buNone/>
              <a:defRPr sz="900"/>
            </a:lvl2pPr>
            <a:lvl3pPr marL="685800" indent="0">
              <a:buNone/>
              <a:defRPr sz="750"/>
            </a:lvl3pPr>
            <a:lvl4pPr marL="1028700" indent="0">
              <a:buNone/>
              <a:defRPr sz="675"/>
            </a:lvl4pPr>
            <a:lvl5pPr marL="1371600" indent="0">
              <a:buNone/>
              <a:defRPr sz="675"/>
            </a:lvl5pPr>
            <a:lvl6pPr marL="1714500" indent="0">
              <a:buNone/>
              <a:defRPr sz="675"/>
            </a:lvl6pPr>
            <a:lvl7pPr marL="2057400" indent="0">
              <a:buNone/>
              <a:defRPr sz="675"/>
            </a:lvl7pPr>
            <a:lvl8pPr marL="2400300" indent="0">
              <a:buNone/>
              <a:defRPr sz="675"/>
            </a:lvl8pPr>
            <a:lvl9pPr marL="2743200" indent="0">
              <a:buNone/>
              <a:defRPr sz="675"/>
            </a:lvl9pPr>
          </a:lstStyle>
          <a:p>
            <a:pPr lvl="0"/>
            <a:r>
              <a:rPr lang="en-US"/>
              <a:t>Click to edit Master text styles</a:t>
            </a:r>
          </a:p>
        </p:txBody>
      </p:sp>
      <p:sp>
        <p:nvSpPr>
          <p:cNvPr id="5" name="Date Placeholder 4"/>
          <p:cNvSpPr>
            <a:spLocks noGrp="1"/>
          </p:cNvSpPr>
          <p:nvPr>
            <p:ph type="dt" sz="half" idx="10"/>
          </p:nvPr>
        </p:nvSpPr>
        <p:spPr/>
        <p:txBody>
          <a:bodyPr/>
          <a:lstStyle/>
          <a:p>
            <a:fld id="{241EB5C9-1307-BA42-ABA2-0BC069CD8E7F}" type="datetimeFigureOut">
              <a:rPr lang="en-US" smtClean="0"/>
              <a:t>1/2/22</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566899855"/>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a:t>Click to edit Master title style</a:t>
            </a:r>
          </a:p>
        </p:txBody>
      </p:sp>
      <p:sp>
        <p:nvSpPr>
          <p:cNvPr id="3" name="Vertical Text Placeholder 2"/>
          <p:cNvSpPr>
            <a:spLocks noGrp="1"/>
          </p:cNvSpPr>
          <p:nvPr>
            <p:ph type="body" orient="vert" idx="1"/>
          </p:nvPr>
        </p:nvSpPr>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313914798"/>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05979"/>
            <a:ext cx="2057400" cy="4388644"/>
          </a:xfrm>
        </p:spPr>
        <p:txBody>
          <a:bodyPr vert="eaVert"/>
          <a:lstStyle/>
          <a:p>
            <a:r>
              <a:rPr lang="en-US"/>
              <a:t>Click to edit Master title style</a:t>
            </a:r>
          </a:p>
        </p:txBody>
      </p:sp>
      <p:sp>
        <p:nvSpPr>
          <p:cNvPr id="3" name="Vertical Text Placeholder 2"/>
          <p:cNvSpPr>
            <a:spLocks noGrp="1"/>
          </p:cNvSpPr>
          <p:nvPr>
            <p:ph type="body" orient="vert" idx="1"/>
          </p:nvPr>
        </p:nvSpPr>
        <p:spPr>
          <a:xfrm>
            <a:off x="457200" y="205979"/>
            <a:ext cx="6019800" cy="4388644"/>
          </a:xfrm>
        </p:spPr>
        <p:txBody>
          <a:bodyPr vert="eaVert"/>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type="dt" sz="half" idx="10"/>
          </p:nvPr>
        </p:nvSpPr>
        <p:spPr/>
        <p:txBody>
          <a:bodyPr/>
          <a:lstStyle/>
          <a:p>
            <a:fld id="{241EB5C9-1307-BA42-ABA2-0BC069CD8E7F}" type="datetimeFigureOut">
              <a:rPr lang="en-US" smtClean="0"/>
              <a:t>1/2/22</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5EF2332-01BF-834F-8236-50238282D533}" type="slidenum">
              <a:rPr lang="en-US" smtClean="0"/>
              <a:t>‹#›</a:t>
            </a:fld>
            <a:endParaRPr lang="en-US"/>
          </a:p>
        </p:txBody>
      </p:sp>
    </p:spTree>
    <p:extLst>
      <p:ext uri="{BB962C8B-B14F-4D97-AF65-F5344CB8AC3E}">
        <p14:creationId xmlns:p14="http://schemas.microsoft.com/office/powerpoint/2010/main" val="2581529045"/>
      </p:ext>
    </p:extLst>
  </p:cSld>
  <p:clrMapOvr>
    <a:masterClrMapping/>
  </p:clrMapOvr>
</p:sldLayout>
</file>

<file path=ppt/slideMasters/_rels/slideMaster1.xml.rels><?xml version="1.0" encoding="UTF-8"?><Relationships xmlns="http://schemas.openxmlformats.org/package/2006/relationships"><Relationship Id="rId8" Target="../slideLayouts/slideLayout8.xml" Type="http://schemas.openxmlformats.org/officeDocument/2006/relationships/slideLayout" /><Relationship Id="rId3" Target="../slideLayouts/slideLayout3.xml" Type="http://schemas.openxmlformats.org/officeDocument/2006/relationships/slideLayout" /><Relationship Id="rId7" Target="../slideLayouts/slideLayout7.xml" Type="http://schemas.openxmlformats.org/officeDocument/2006/relationships/slideLayout" /><Relationship Id="rId12" Target="../theme/theme1.xml" Type="http://schemas.openxmlformats.org/officeDocument/2006/relationships/theme" /><Relationship Id="rId2" Target="../slideLayouts/slideLayout2.xml" Type="http://schemas.openxmlformats.org/officeDocument/2006/relationships/slideLayout" /><Relationship Id="rId1" Target="../slideLayouts/slideLayout1.xml" Type="http://schemas.openxmlformats.org/officeDocument/2006/relationships/slideLayout" /><Relationship Id="rId6" Target="../slideLayouts/slideLayout6.xml" Type="http://schemas.openxmlformats.org/officeDocument/2006/relationships/slideLayout" /><Relationship Id="rId11" Target="../slideLayouts/slideLayout11.xml" Type="http://schemas.openxmlformats.org/officeDocument/2006/relationships/slideLayout" /><Relationship Id="rId5" Target="../slideLayouts/slideLayout5.xml" Type="http://schemas.openxmlformats.org/officeDocument/2006/relationships/slideLayout" /><Relationship Id="rId10" Target="../slideLayouts/slideLayout10.xml" Type="http://schemas.openxmlformats.org/officeDocument/2006/relationships/slideLayout" /><Relationship Id="rId4" Target="../slideLayouts/slideLayout4.xml" Type="http://schemas.openxmlformats.org/officeDocument/2006/relationships/slideLayout" /><Relationship Id="rId9" Target="../slideLayouts/slideLayout9.xml" Type="http://schemas.openxmlformats.org/officeDocument/2006/relationships/slideLayout" /></Relationships>
</file>

<file path=ppt/slideMasters/slideMaster1.xml><?xml version="1.0" encoding="utf-8"?>
<p:sldMaster xmlns:a="http://schemas.openxmlformats.org/drawingml/2006/main" xmlns:p="http://schemas.openxmlformats.org/presentationml/2006/main" xmlns:r="http://schemas.openxmlformats.org/officeDocument/2006/relationships">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05979"/>
            <a:ext cx="8229600" cy="857250"/>
          </a:xfrm>
          <a:prstGeom prst="rect">
            <a:avLst/>
          </a:prstGeom>
        </p:spPr>
        <p:txBody>
          <a:bodyPr anchor="ctr" bIns="45720" lIns="91440" rIns="91440" rtlCol="0" tIns="45720" vert="horz">
            <a:normAutofit/>
          </a:bodyPr>
          <a:lstStyle/>
          <a:p>
            <a:r>
              <a:rPr lang="en-US"/>
              <a:t>Click to edit Master title style</a:t>
            </a:r>
          </a:p>
        </p:txBody>
      </p:sp>
      <p:sp>
        <p:nvSpPr>
          <p:cNvPr id="3" name="Text Placeholder 2"/>
          <p:cNvSpPr>
            <a:spLocks noGrp="1"/>
          </p:cNvSpPr>
          <p:nvPr>
            <p:ph idx="1" type="body"/>
          </p:nvPr>
        </p:nvSpPr>
        <p:spPr>
          <a:xfrm>
            <a:off x="457200" y="1200151"/>
            <a:ext cx="8229600" cy="3394472"/>
          </a:xfrm>
          <a:prstGeom prst="rect">
            <a:avLst/>
          </a:prstGeom>
        </p:spPr>
        <p:txBody>
          <a:bodyPr bIns="45720" lIns="91440" rIns="91440" rtlCol="0" tIns="45720" vert="horz">
            <a:normAutofit/>
          </a:bodyPr>
          <a:lstStyle/>
          <a:p>
            <a:pPr lvl="0"/>
            <a:r>
              <a:rPr lang="en-US"/>
              <a:t>Click to edit Master text styles</a:t>
            </a:r>
          </a:p>
          <a:p>
            <a:pPr lvl="1"/>
            <a:r>
              <a:rPr lang="en-US"/>
              <a:t>Second level</a:t>
            </a:r>
          </a:p>
          <a:p>
            <a:pPr lvl="2"/>
            <a:r>
              <a:rPr lang="en-US"/>
              <a:t>Third level</a:t>
            </a:r>
          </a:p>
          <a:p>
            <a:pPr lvl="3"/>
            <a:r>
              <a:rPr lang="en-US"/>
              <a:t>Fourth level</a:t>
            </a:r>
          </a:p>
          <a:p>
            <a:pPr lvl="4"/>
            <a:r>
              <a:rPr lang="en-US"/>
              <a:t>Fifth level</a:t>
            </a:r>
          </a:p>
        </p:txBody>
      </p:sp>
      <p:sp>
        <p:nvSpPr>
          <p:cNvPr id="4" name="Date Placeholder 3"/>
          <p:cNvSpPr>
            <a:spLocks noGrp="1"/>
          </p:cNvSpPr>
          <p:nvPr>
            <p:ph idx="2" sz="half" type="dt"/>
          </p:nvPr>
        </p:nvSpPr>
        <p:spPr>
          <a:xfrm>
            <a:off x="457200" y="4767263"/>
            <a:ext cx="2133600" cy="273844"/>
          </a:xfrm>
          <a:prstGeom prst="rect">
            <a:avLst/>
          </a:prstGeom>
        </p:spPr>
        <p:txBody>
          <a:bodyPr anchor="ctr" bIns="45720" lIns="91440" rIns="91440" rtlCol="0" tIns="45720" vert="horz"/>
          <a:lstStyle>
            <a:lvl1pPr algn="l">
              <a:defRPr sz="900">
                <a:solidFill>
                  <a:schemeClr val="tx1">
                    <a:tint val="75000"/>
                  </a:schemeClr>
                </a:solidFill>
              </a:defRPr>
            </a:lvl1pPr>
          </a:lstStyle>
          <a:p>
            <a:fld id="{241EB5C9-1307-BA42-ABA2-0BC069CD8E7F}" type="datetimeFigureOut">
              <a:rPr lang="en-US" smtClean="0"/>
              <a:t>1/2/22</a:t>
            </a:fld>
            <a:endParaRPr lang="en-US"/>
          </a:p>
        </p:txBody>
      </p:sp>
      <p:sp>
        <p:nvSpPr>
          <p:cNvPr id="5" name="Footer Placeholder 4"/>
          <p:cNvSpPr>
            <a:spLocks noGrp="1"/>
          </p:cNvSpPr>
          <p:nvPr>
            <p:ph idx="3" sz="quarter" type="ftr"/>
          </p:nvPr>
        </p:nvSpPr>
        <p:spPr>
          <a:xfrm>
            <a:off x="3124200" y="4767263"/>
            <a:ext cx="2895600" cy="273844"/>
          </a:xfrm>
          <a:prstGeom prst="rect">
            <a:avLst/>
          </a:prstGeom>
        </p:spPr>
        <p:txBody>
          <a:bodyPr anchor="ctr" bIns="45720" lIns="91440" rIns="91440" rtlCol="0" tIns="45720" vert="horz"/>
          <a:lstStyle>
            <a:lvl1pPr algn="ctr">
              <a:defRPr sz="900">
                <a:solidFill>
                  <a:schemeClr val="tx1">
                    <a:tint val="75000"/>
                  </a:schemeClr>
                </a:solidFill>
              </a:defRPr>
            </a:lvl1pPr>
          </a:lstStyle>
          <a:p>
            <a:endParaRPr lang="en-US"/>
          </a:p>
        </p:txBody>
      </p:sp>
      <p:sp>
        <p:nvSpPr>
          <p:cNvPr id="6" name="Slide Number Placeholder 5"/>
          <p:cNvSpPr>
            <a:spLocks noGrp="1"/>
          </p:cNvSpPr>
          <p:nvPr>
            <p:ph idx="4" sz="quarter" type="sldNum"/>
          </p:nvPr>
        </p:nvSpPr>
        <p:spPr>
          <a:xfrm>
            <a:off x="6553200" y="4767263"/>
            <a:ext cx="2133600" cy="273844"/>
          </a:xfrm>
          <a:prstGeom prst="rect">
            <a:avLst/>
          </a:prstGeom>
        </p:spPr>
        <p:txBody>
          <a:bodyPr anchor="ctr" bIns="45720" lIns="91440" rIns="91440" rtlCol="0" tIns="45720" vert="horz"/>
          <a:lstStyle>
            <a:lvl1pPr algn="r">
              <a:defRPr sz="900">
                <a:solidFill>
                  <a:schemeClr val="tx1">
                    <a:tint val="75000"/>
                  </a:schemeClr>
                </a:solidFill>
              </a:defRPr>
            </a:lvl1pPr>
          </a:lstStyle>
          <a:p>
            <a:fld id="{C5EF2332-01BF-834F-8236-50238282D533}" type="slidenum">
              <a:rPr lang="en-US" smtClean="0"/>
              <a:t>‹#›</a:t>
            </a:fld>
            <a:endParaRPr lang="en-US"/>
          </a:p>
        </p:txBody>
      </p:sp>
    </p:spTree>
    <p:extLst>
      <p:ext uri="{BB962C8B-B14F-4D97-AF65-F5344CB8AC3E}">
        <p14:creationId xmlns:p14="http://schemas.microsoft.com/office/powerpoint/2010/main" val="3676200875"/>
      </p:ext>
    </p:extLst>
  </p:cSld>
  <p:clrMap accent1="accent1" accent2="accent2" accent3="accent3" accent4="accent4" accent5="accent5" accent6="accent6" bg1="lt1" bg2="lt2" folHlink="folHlink" hlink="hlink" tx1="dk1" tx2="dk2"/>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342900" eaLnBrk="1" hangingPunct="1" latinLnBrk="0" rtl="0">
        <a:spcBef>
          <a:spcPct val="0"/>
        </a:spcBef>
        <a:buNone/>
        <a:defRPr kern="1200" sz="3300">
          <a:solidFill>
            <a:schemeClr val="tx1"/>
          </a:solidFill>
          <a:latin typeface="+mj-lt"/>
          <a:ea typeface="+mj-ea"/>
          <a:cs typeface="+mj-cs"/>
        </a:defRPr>
      </a:lvl1pPr>
    </p:titleStyle>
    <p:bodyStyle>
      <a:lvl1pPr algn="l" defTabSz="342900" eaLnBrk="1" hangingPunct="1" indent="-342900" latinLnBrk="0" marL="342900" rtl="0">
        <a:spcBef>
          <a:spcPct val="20000"/>
        </a:spcBef>
        <a:buFont typeface="Arial"/>
        <a:buChar char="•"/>
        <a:defRPr kern="1200" sz="2400">
          <a:solidFill>
            <a:schemeClr val="tx1"/>
          </a:solidFill>
          <a:latin typeface="+mn-lt"/>
          <a:ea typeface="+mn-ea"/>
          <a:cs typeface="+mn-cs"/>
        </a:defRPr>
      </a:lvl1pPr>
      <a:lvl2pPr algn="l" defTabSz="342900" eaLnBrk="1" hangingPunct="1" indent="-342900" latinLnBrk="0" marL="685800" rtl="0">
        <a:spcBef>
          <a:spcPct val="20000"/>
        </a:spcBef>
        <a:buFont typeface="Arial"/>
        <a:buChar char="–"/>
        <a:defRPr kern="1200" sz="2100">
          <a:solidFill>
            <a:schemeClr val="tx1"/>
          </a:solidFill>
          <a:latin typeface="+mn-lt"/>
          <a:ea typeface="+mn-ea"/>
          <a:cs typeface="+mn-cs"/>
        </a:defRPr>
      </a:lvl2pPr>
      <a:lvl3pPr algn="l" defTabSz="342900" eaLnBrk="1" hangingPunct="1" indent="-342900" latinLnBrk="0" marL="1028700" rtl="0">
        <a:spcBef>
          <a:spcPct val="20000"/>
        </a:spcBef>
        <a:buFont typeface="Arial"/>
        <a:buChar char="•"/>
        <a:defRPr kern="1200" sz="1800">
          <a:solidFill>
            <a:schemeClr val="tx1"/>
          </a:solidFill>
          <a:latin typeface="+mn-lt"/>
          <a:ea typeface="+mn-ea"/>
          <a:cs typeface="+mn-cs"/>
        </a:defRPr>
      </a:lvl3pPr>
      <a:lvl4pPr algn="l" defTabSz="342900" eaLnBrk="1" hangingPunct="1" indent="-342900" latinLnBrk="0" marL="1371600" rtl="0">
        <a:spcBef>
          <a:spcPct val="20000"/>
        </a:spcBef>
        <a:buFont typeface="Arial"/>
        <a:buChar char="–"/>
        <a:defRPr kern="1200" sz="1500">
          <a:solidFill>
            <a:schemeClr val="tx1"/>
          </a:solidFill>
          <a:latin typeface="+mn-lt"/>
          <a:ea typeface="+mn-ea"/>
          <a:cs typeface="+mn-cs"/>
        </a:defRPr>
      </a:lvl4pPr>
      <a:lvl5pPr algn="l" defTabSz="342900" eaLnBrk="1" hangingPunct="1" indent="-342900" latinLnBrk="0" marL="1714500" rtl="0">
        <a:spcBef>
          <a:spcPct val="20000"/>
        </a:spcBef>
        <a:buFont typeface="Arial"/>
        <a:buChar char="»"/>
        <a:defRPr kern="1200" sz="1500">
          <a:solidFill>
            <a:schemeClr val="tx1"/>
          </a:solidFill>
          <a:latin typeface="+mn-lt"/>
          <a:ea typeface="+mn-ea"/>
          <a:cs typeface="+mn-cs"/>
        </a:defRPr>
      </a:lvl5pPr>
      <a:lvl6pPr algn="l" defTabSz="342900" eaLnBrk="1" hangingPunct="1" indent="-342900" latinLnBrk="0" marL="2057400" rtl="0">
        <a:spcBef>
          <a:spcPct val="20000"/>
        </a:spcBef>
        <a:buFont typeface="Arial"/>
        <a:buChar char="•"/>
        <a:defRPr kern="1200" sz="1500">
          <a:solidFill>
            <a:schemeClr val="tx1"/>
          </a:solidFill>
          <a:latin typeface="+mn-lt"/>
          <a:ea typeface="+mn-ea"/>
          <a:cs typeface="+mn-cs"/>
        </a:defRPr>
      </a:lvl6pPr>
      <a:lvl7pPr algn="l" defTabSz="342900" eaLnBrk="1" hangingPunct="1" indent="-342900" latinLnBrk="0" marL="2400300" rtl="0">
        <a:spcBef>
          <a:spcPct val="20000"/>
        </a:spcBef>
        <a:buFont typeface="Arial"/>
        <a:buChar char="•"/>
        <a:defRPr kern="1200" sz="1500">
          <a:solidFill>
            <a:schemeClr val="tx1"/>
          </a:solidFill>
          <a:latin typeface="+mn-lt"/>
          <a:ea typeface="+mn-ea"/>
          <a:cs typeface="+mn-cs"/>
        </a:defRPr>
      </a:lvl7pPr>
      <a:lvl8pPr algn="l" defTabSz="342900" eaLnBrk="1" hangingPunct="1" indent="-342900" latinLnBrk="0" marL="2743200" rtl="0">
        <a:spcBef>
          <a:spcPct val="20000"/>
        </a:spcBef>
        <a:buFont typeface="Arial"/>
        <a:buChar char="•"/>
        <a:defRPr kern="1200" sz="1500">
          <a:solidFill>
            <a:schemeClr val="tx1"/>
          </a:solidFill>
          <a:latin typeface="+mn-lt"/>
          <a:ea typeface="+mn-ea"/>
          <a:cs typeface="+mn-cs"/>
        </a:defRPr>
      </a:lvl8pPr>
      <a:lvl9pPr algn="l" defTabSz="342900" eaLnBrk="1" hangingPunct="1" indent="-342900" latinLnBrk="0" marL="3086100" rtl="0">
        <a:spcBef>
          <a:spcPct val="20000"/>
        </a:spcBef>
        <a:buFont typeface="Arial"/>
        <a:buChar char="•"/>
        <a:defRPr kern="1200" sz="1500">
          <a:solidFill>
            <a:schemeClr val="tx1"/>
          </a:solidFill>
          <a:latin typeface="+mn-lt"/>
          <a:ea typeface="+mn-ea"/>
          <a:cs typeface="+mn-cs"/>
        </a:defRPr>
      </a:lvl9pPr>
    </p:bodyStyle>
    <p:otherStyle>
      <a:defPPr>
        <a:defRPr lang="en-US"/>
      </a:defPPr>
      <a:lvl1pPr algn="l" defTabSz="342900" eaLnBrk="1" hangingPunct="1" latinLnBrk="0" marL="0" rtl="0">
        <a:defRPr kern="1200" sz="1350">
          <a:solidFill>
            <a:schemeClr val="tx1"/>
          </a:solidFill>
          <a:latin typeface="+mn-lt"/>
          <a:ea typeface="+mn-ea"/>
          <a:cs typeface="+mn-cs"/>
        </a:defRPr>
      </a:lvl1pPr>
      <a:lvl2pPr algn="l" defTabSz="342900" eaLnBrk="1" hangingPunct="1" latinLnBrk="0" marL="342900" rtl="0">
        <a:defRPr kern="1200" sz="1350">
          <a:solidFill>
            <a:schemeClr val="tx1"/>
          </a:solidFill>
          <a:latin typeface="+mn-lt"/>
          <a:ea typeface="+mn-ea"/>
          <a:cs typeface="+mn-cs"/>
        </a:defRPr>
      </a:lvl2pPr>
      <a:lvl3pPr algn="l" defTabSz="342900" eaLnBrk="1" hangingPunct="1" latinLnBrk="0" marL="685800" rtl="0">
        <a:defRPr kern="1200" sz="1350">
          <a:solidFill>
            <a:schemeClr val="tx1"/>
          </a:solidFill>
          <a:latin typeface="+mn-lt"/>
          <a:ea typeface="+mn-ea"/>
          <a:cs typeface="+mn-cs"/>
        </a:defRPr>
      </a:lvl3pPr>
      <a:lvl4pPr algn="l" defTabSz="342900" eaLnBrk="1" hangingPunct="1" latinLnBrk="0" marL="1028700" rtl="0">
        <a:defRPr kern="1200" sz="1350">
          <a:solidFill>
            <a:schemeClr val="tx1"/>
          </a:solidFill>
          <a:latin typeface="+mn-lt"/>
          <a:ea typeface="+mn-ea"/>
          <a:cs typeface="+mn-cs"/>
        </a:defRPr>
      </a:lvl4pPr>
      <a:lvl5pPr algn="l" defTabSz="342900" eaLnBrk="1" hangingPunct="1" latinLnBrk="0" marL="1371600" rtl="0">
        <a:defRPr kern="1200" sz="1350">
          <a:solidFill>
            <a:schemeClr val="tx1"/>
          </a:solidFill>
          <a:latin typeface="+mn-lt"/>
          <a:ea typeface="+mn-ea"/>
          <a:cs typeface="+mn-cs"/>
        </a:defRPr>
      </a:lvl5pPr>
      <a:lvl6pPr algn="l" defTabSz="342900" eaLnBrk="1" hangingPunct="1" latinLnBrk="0" marL="1714500" rtl="0">
        <a:defRPr kern="1200" sz="1350">
          <a:solidFill>
            <a:schemeClr val="tx1"/>
          </a:solidFill>
          <a:latin typeface="+mn-lt"/>
          <a:ea typeface="+mn-ea"/>
          <a:cs typeface="+mn-cs"/>
        </a:defRPr>
      </a:lvl6pPr>
      <a:lvl7pPr algn="l" defTabSz="342900" eaLnBrk="1" hangingPunct="1" latinLnBrk="0" marL="2057400" rtl="0">
        <a:defRPr kern="1200" sz="1350">
          <a:solidFill>
            <a:schemeClr val="tx1"/>
          </a:solidFill>
          <a:latin typeface="+mn-lt"/>
          <a:ea typeface="+mn-ea"/>
          <a:cs typeface="+mn-cs"/>
        </a:defRPr>
      </a:lvl7pPr>
      <a:lvl8pPr algn="l" defTabSz="342900" eaLnBrk="1" hangingPunct="1" latinLnBrk="0" marL="2400300" rtl="0">
        <a:defRPr kern="1200" sz="1350">
          <a:solidFill>
            <a:schemeClr val="tx1"/>
          </a:solidFill>
          <a:latin typeface="+mn-lt"/>
          <a:ea typeface="+mn-ea"/>
          <a:cs typeface="+mn-cs"/>
        </a:defRPr>
      </a:lvl8pPr>
      <a:lvl9pPr algn="l" defTabSz="342900" eaLnBrk="1" hangingPunct="1" latinLnBrk="0" marL="2743200" rtl="0">
        <a:defRPr kern="1200" sz="1350">
          <a:solidFill>
            <a:schemeClr val="tx1"/>
          </a:solidFill>
          <a:latin typeface="+mn-lt"/>
          <a:ea typeface="+mn-ea"/>
          <a:cs typeface="+mn-cs"/>
        </a:defRPr>
      </a:lvl9pPr>
    </p:otherStyle>
  </p:txStyles>
</p:sldMaster>
</file>

<file path=ppt/slides/_rels/slide1.xml.rels><?xml version="1.0" encoding="UTF-8"?><Relationships xmlns="http://schemas.openxmlformats.org/package/2006/relationships"><Relationship Id="rId1" Type="http://schemas.openxmlformats.org/officeDocument/2006/relationships/slideLayout" Target="../slideLayouts/slideLayout1.xml" /></Relationships>
</file>

<file path=ppt/slides/_rels/slide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2.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1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1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0.xml.rels><?xml version="1.0" encoding="UTF-8"?><Relationships xmlns="http://schemas.openxmlformats.org/package/2006/relationships"><Relationship Id="rId1" Type="http://schemas.openxmlformats.org/officeDocument/2006/relationships/slideLayout" Target="../slideLayouts/slideLayout8.xml" /><Relationship Id="rId2" Type="http://schemas.openxmlformats.org/officeDocument/2006/relationships/image" Target="../media/image1.png" /></Relationships>
</file>

<file path=ppt/slides/_rels/slide2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2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5.xml.rels><?xml version="1.0" encoding="UTF-8"?><Relationships xmlns="http://schemas.openxmlformats.org/package/2006/relationships"><Relationship Id="rId1" Type="http://schemas.openxmlformats.org/officeDocument/2006/relationships/slideLayout" Target="../slideLayouts/slideLayout3.xml" /></Relationships>
</file>

<file path=ppt/slides/_rels/slide36.xml.rels><?xml version="1.0" encoding="UTF-8"?><Relationships xmlns="http://schemas.openxmlformats.org/package/2006/relationships"><Relationship Id="rId1" Type="http://schemas.openxmlformats.org/officeDocument/2006/relationships/slideLayout" Target="../slideLayouts/slideLayout2.xml" /><Relationship Id="rId2" Type="http://schemas.openxmlformats.org/officeDocument/2006/relationships/hyperlink" Target="computing.html" TargetMode="External" /></Relationships>
</file>

<file path=ppt/slides/_rels/slide3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3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3.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4.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5.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6.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7.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8.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49.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0.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1.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2.xml.rels><?xml version="1.0" encoding="UTF-8"?><Relationships xmlns="http://schemas.openxmlformats.org/package/2006/relationships"><Relationship Id="rId1" Type="http://schemas.openxmlformats.org/officeDocument/2006/relationships/slideLayout" Target="../slideLayouts/slideLayout2.xml" /></Relationships>
</file>

<file path=ppt/slides/_rels/slide53.xml.rels><?xml version="1.0" encoding="UTF-8"?><Relationships xmlns="http://schemas.openxmlformats.org/package/2006/relationships"><Relationship Id="rId1" Type="http://schemas.openxmlformats.org/officeDocument/2006/relationships/slideLayout" Target="../slideLayouts/slideLayout3.xml" /></Relationships>
</file>

<file path=ppt/slides/slide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ctrTitle"/>
          </p:nvPr>
        </p:nvSpPr>
        <p:spPr>
          <a:xfrm>
            <a:off x="685800" y="1597819"/>
            <a:ext cx="7772400" cy="1102519"/>
          </a:xfrm>
        </p:spPr>
        <p:txBody>
          <a:bodyPr/>
          <a:lstStyle/>
          <a:p>
            <a:pPr lvl="0" indent="0" marL="0">
              <a:buNone/>
            </a:pPr>
            <a:r>
              <a:rPr/>
              <a:t>DATA 202 - Week 2</a:t>
            </a:r>
          </a:p>
        </p:txBody>
      </p:sp>
      <p:sp>
        <p:nvSpPr>
          <p:cNvPr id="3" name="Subtitle 2"/>
          <p:cNvSpPr>
            <a:spLocks noGrp="1"/>
          </p:cNvSpPr>
          <p:nvPr>
            <p:ph idx="1" type="subTitle"/>
          </p:nvPr>
        </p:nvSpPr>
        <p:spPr>
          <a:xfrm>
            <a:off x="1371600" y="2914650"/>
            <a:ext cx="6400800" cy="1314450"/>
          </a:xfrm>
        </p:spPr>
        <p:txBody>
          <a:bodyPr/>
          <a:lstStyle/>
          <a:p>
            <a:pPr lvl="0" indent="0" marL="0">
              <a:buNone/>
            </a:pPr>
            <a:r>
              <a:rPr/>
              <a:t>Foundations</a:t>
            </a:r>
            <a:br/>
            <a:br/>
            <a:r>
              <a:rPr/>
              <a:t>Nathan Alexander, PhD</a:t>
            </a:r>
          </a:p>
        </p:txBody>
      </p:sp>
    </p:spTree>
  </p:cSld>
</p:sld>
</file>

<file path=ppt/slides/slide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 Context</a:t>
            </a:r>
          </a:p>
        </p:txBody>
      </p:sp>
    </p:spTree>
  </p:cSld>
</p:sld>
</file>

<file path=ppt/slides/slide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Statistics?</a:t>
            </a:r>
          </a:p>
        </p:txBody>
      </p:sp>
      <p:sp>
        <p:nvSpPr>
          <p:cNvPr id="3" name="Content Placeholder 2"/>
          <p:cNvSpPr>
            <a:spLocks noGrp="1"/>
          </p:cNvSpPr>
          <p:nvPr>
            <p:ph idx="1"/>
          </p:nvPr>
        </p:nvSpPr>
        <p:spPr/>
        <p:txBody>
          <a:bodyPr/>
          <a:lstStyle/>
          <a:p>
            <a:pPr lvl="0" indent="0" marL="0">
              <a:buNone/>
            </a:pPr>
            <a:r>
              <a:rPr/>
              <a:t>Statistics is a science. As a result, it follows a set of well-defined steps or methods. As we explore new terms and definitions, we will gain a better understanding of what statistics encompasses.</a:t>
            </a:r>
          </a:p>
          <a:p>
            <a:pPr lvl="0" indent="0" marL="1270000">
              <a:buNone/>
            </a:pPr>
            <a:r>
              <a:rPr sz="2000" b="1"/>
              <a:t>DEFINITION: Statistics</a:t>
            </a:r>
          </a:p>
          <a:p>
            <a:pPr lvl="0" indent="0" marL="1270000">
              <a:buNone/>
            </a:pPr>
            <a:r>
              <a:rPr sz="2000" b="1"/>
              <a:t>Statistics</a:t>
            </a:r>
            <a:r>
              <a:rPr sz="2000"/>
              <a:t> is the science of collecting, organizing, analyzing, interpreting, communicating, and visualizing data and information.</a:t>
            </a:r>
          </a:p>
          <a:p>
            <a:pPr lvl="0" indent="0" marL="0">
              <a:buNone/>
            </a:pPr>
            <a:r>
              <a:rPr/>
              <a:t>There are a multitude of ways to describe the steps, terms, and various processes undertaken in a statistical study. Importantly, however, modern statistics calls for more critical questions where we explore difference or change within specified contexts. We then use theory and concepts of variation to understand differences within or between a set (or sets) of measurements, resulting in a more </a:t>
            </a:r>
            <a:r>
              <a:rPr i="1"/>
              <a:t>critical</a:t>
            </a:r>
            <a:r>
              <a:rPr/>
              <a:t> orientation to statistics.</a:t>
            </a:r>
          </a:p>
        </p:txBody>
      </p:sp>
    </p:spTree>
  </p:cSld>
</p:sld>
</file>

<file path=ppt/slides/slide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is Critical Statistics?</a:t>
            </a:r>
          </a:p>
        </p:txBody>
      </p:sp>
      <p:sp>
        <p:nvSpPr>
          <p:cNvPr id="3" name="Content Placeholder 2"/>
          <p:cNvSpPr>
            <a:spLocks noGrp="1"/>
          </p:cNvSpPr>
          <p:nvPr>
            <p:ph idx="1"/>
          </p:nvPr>
        </p:nvSpPr>
        <p:spPr/>
        <p:txBody>
          <a:bodyPr/>
          <a:lstStyle/>
          <a:p>
            <a:pPr lvl="0" indent="0" marL="0">
              <a:buNone/>
            </a:pPr>
            <a:r>
              <a:rPr/>
              <a:t>In popular media, we might see information reported as follows:</a:t>
            </a:r>
          </a:p>
          <a:p>
            <a:pPr lvl="0" indent="0" marL="1270000">
              <a:buNone/>
            </a:pPr>
            <a:r>
              <a:rPr sz="2000" i="1"/>
              <a:t>In 2022, college enrollment for 18-24 year-olds in the United States was 39%, a two percent decrease from 41% in 2012. The enrollment rate for those aged 18-24 in 2022 who were Black was 36%, which was lower than the rates for Asian students, which was 61%, and White students, which was 41%</a:t>
            </a:r>
            <a:r>
              <a:rPr sz="2000"/>
              <a:t>.</a:t>
            </a:r>
          </a:p>
          <a:p>
            <a:pPr lvl="0" indent="0" marL="0">
              <a:buNone/>
            </a:pPr>
            <a:r>
              <a:rPr/>
              <a:t>The data above is from the U.S. National Center for Education Statistics (NCES). While reading the paragraph, what were some of your opinions? What questions did you have?</a:t>
            </a:r>
          </a:p>
          <a:p>
            <a:pPr lvl="0"/>
            <a:r>
              <a:rPr/>
              <a:t>How was enrollment defined and measured?</a:t>
            </a:r>
          </a:p>
          <a:p>
            <a:pPr lvl="0"/>
            <a:r>
              <a:rPr/>
              <a:t>Should the differences be viewed as significant in some way?</a:t>
            </a:r>
          </a:p>
          <a:p>
            <a:pPr lvl="0"/>
            <a:r>
              <a:rPr/>
              <a:t>Do the percents mean that some students are less likely to go to college?</a:t>
            </a:r>
          </a:p>
        </p:txBody>
      </p:sp>
    </p:spTree>
  </p:cSld>
</p:sld>
</file>

<file path=ppt/slides/slide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traditional statistics, a quantitative research question is answered using the scientific method. A </a:t>
            </a:r>
            <a:r>
              <a:rPr i="1"/>
              <a:t>traditionalist</a:t>
            </a:r>
            <a:r>
              <a:rPr/>
              <a:t> may blindly follow the steps of this method, focusing on model selection and assumptions while also ignoring any broader social and historical contexts.</a:t>
            </a:r>
          </a:p>
          <a:p>
            <a:pPr lvl="0" indent="0" marL="0">
              <a:buNone/>
            </a:pPr>
            <a:r>
              <a:rPr/>
              <a:t>In the social sciences, for example, statistics continues to be used to perpetuate negative stereotypes – which does not simply give it a bad rap but it results in real-world harm to communities. Does this mean we are just in need of </a:t>
            </a:r>
            <a:r>
              <a:rPr i="1"/>
              <a:t>critical</a:t>
            </a:r>
            <a:r>
              <a:rPr/>
              <a:t> statistics?</a:t>
            </a:r>
          </a:p>
        </p:txBody>
      </p:sp>
    </p:spTree>
  </p:cSld>
</p:sld>
</file>

<file path=ppt/slides/slide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Example: Challenging Statistics in Media</a:t>
            </a:r>
          </a:p>
          <a:p>
            <a:pPr lvl="0" indent="0" marL="1270000">
              <a:buNone/>
            </a:pPr>
            <a:r>
              <a:rPr sz="2000"/>
              <a:t>The American sitcom </a:t>
            </a:r>
            <a:r>
              <a:rPr sz="2000" i="1"/>
              <a:t>A Different World</a:t>
            </a:r>
            <a:r>
              <a:rPr sz="2000"/>
              <a:t> challenged negative stereotypes associated with Black youth and families regarding the pursuit of higher education. By portraying a vibrant college life at Hillman, a predominately Black college in the U.S., the series highlighted the importance of education as a priority within the Black community.</a:t>
            </a:r>
          </a:p>
          <a:p>
            <a:pPr lvl="0" indent="0" marL="1270000">
              <a:buNone/>
            </a:pPr>
            <a:r>
              <a:rPr sz="2000"/>
              <a:t>Image of ‘A Different World’ cast</a:t>
            </a:r>
          </a:p>
          <a:p>
            <a:pPr lvl="0" indent="0" marL="1270000">
              <a:buNone/>
            </a:pPr>
            <a:r>
              <a:rPr sz="2000"/>
              <a:t>Image of ‘A Different World’ cast</a:t>
            </a:r>
          </a:p>
        </p:txBody>
      </p:sp>
    </p:spTree>
  </p:cSld>
</p:sld>
</file>

<file path=ppt/slides/slide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In a discussion about the U.S. college enrollment rate of Black 18-24 year-olds, your colleague Rachel cites Bill Cosby and two shows that he produced, </a:t>
            </a:r>
            <a:r>
              <a:rPr sz="2000" i="1"/>
              <a:t>A Different World</a:t>
            </a:r>
            <a:r>
              <a:rPr sz="2000"/>
              <a:t> and </a:t>
            </a:r>
            <a:r>
              <a:rPr sz="2000" i="1"/>
              <a:t>The Cosby Show</a:t>
            </a:r>
            <a:r>
              <a:rPr sz="2000"/>
              <a:t>, as important examples to combat deficit racial stereotypes. However, during the discussion, another colleague mentions how Bill Cosby was found guilty of aggravated indecent assault and sexual predation, and mentions that we have to be mindful of the work we cite and the persons responsible for producing the work. The colleague states that ``one problematic case should not be combated with another problematic case” referring to Cosby; Rachel disagrees. Both colleagues ask for your opinion on the discussion. How might you respond?</a:t>
            </a:r>
          </a:p>
        </p:txBody>
      </p:sp>
    </p:spTree>
  </p:cSld>
</p:sld>
</file>

<file path=ppt/slides/slide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 Different World of Statistics</a:t>
            </a:r>
          </a:p>
        </p:txBody>
      </p:sp>
      <p:sp>
        <p:nvSpPr>
          <p:cNvPr id="3" name="Content Placeholder 2"/>
          <p:cNvSpPr>
            <a:spLocks noGrp="1"/>
          </p:cNvSpPr>
          <p:nvPr>
            <p:ph idx="1"/>
          </p:nvPr>
        </p:nvSpPr>
        <p:spPr/>
        <p:txBody>
          <a:bodyPr/>
          <a:lstStyle/>
          <a:p>
            <a:pPr lvl="0" indent="0" marL="0">
              <a:buNone/>
            </a:pPr>
            <a:r>
              <a:rPr/>
              <a:t>The idea of </a:t>
            </a:r>
            <a:r>
              <a:rPr i="1"/>
              <a:t>traditional statistics</a:t>
            </a:r>
            <a:r>
              <a:rPr/>
              <a:t> vs. </a:t>
            </a:r>
            <a:r>
              <a:rPr i="1"/>
              <a:t>non-traditional statistics</a:t>
            </a:r>
            <a:r>
              <a:rPr/>
              <a:t> may mean, on the surface at least, that we are in need of a </a:t>
            </a:r>
            <a:r>
              <a:rPr i="1"/>
              <a:t>critical</a:t>
            </a:r>
            <a:r>
              <a:rPr/>
              <a:t> statistics, and fast. But what if this dichotomy is a false one? What other pathways exist? Pathways of refusal? Pathways of exploration?</a:t>
            </a:r>
          </a:p>
          <a:p>
            <a:pPr lvl="0" indent="0" marL="0">
              <a:buNone/>
            </a:pPr>
            <a:r>
              <a:rPr/>
              <a:t>We will make attempts to reside in the space between refusal and exploration, as two key aspects of what we will come to know as </a:t>
            </a:r>
            <a:r>
              <a:rPr i="1"/>
              <a:t>critical statistics</a:t>
            </a:r>
            <a:r>
              <a:rPr/>
              <a:t>. By employing a practice of refusal, we will have space to </a:t>
            </a:r>
            <a:r>
              <a:rPr i="1"/>
              <a:t>refuse</a:t>
            </a:r>
            <a:r>
              <a:rPr/>
              <a:t> harmful beliefs and scientific practices. In the spirit of learning, we will also </a:t>
            </a:r>
            <a:r>
              <a:rPr i="1"/>
              <a:t>explore</a:t>
            </a:r>
            <a:r>
              <a:rPr/>
              <a:t> the potential benefits (and drawbacks) of critical statistics.</a:t>
            </a:r>
          </a:p>
          <a:p>
            <a:pPr lvl="0" indent="0" marL="1270000">
              <a:buNone/>
            </a:pPr>
            <a:r>
              <a:rPr sz="2000" b="1"/>
              <a:t>Traditional approaches to statistics</a:t>
            </a:r>
          </a:p>
          <a:p>
            <a:pPr lvl="0" indent="0" marL="1270000">
              <a:buNone/>
            </a:pPr>
            <a:r>
              <a:rPr sz="2000"/>
              <a:t>Critical approaches to statistics require interdisciplinary thinking.</a:t>
            </a:r>
          </a:p>
        </p:txBody>
      </p:sp>
    </p:spTree>
  </p:cSld>
</p:sld>
</file>

<file path=ppt/slides/slide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Traditional approaches to statistics in some areas of study, like the environmental sciences, provide important information about changes and differences in global patterns. In other areas of study, such as education and the social sciences, statistics has a different history.</a:t>
            </a:r>
          </a:p>
          <a:p>
            <a:pPr lvl="0" indent="0" marL="0">
              <a:buNone/>
            </a:pPr>
            <a:r>
              <a:rPr/>
              <a:t>In the specific case of U.S. college enrollment rates, you may be concerned with some broader questions about data in the education sciences. In the spirit of </a:t>
            </a:r>
            <a:r>
              <a:rPr i="1"/>
              <a:t>exploration</a:t>
            </a:r>
            <a:r>
              <a:rPr/>
              <a:t>, you might ask:</a:t>
            </a:r>
          </a:p>
          <a:p>
            <a:pPr lvl="0"/>
            <a:r>
              <a:rPr/>
              <a:t>Should we interpret these enrollment statistics as indicative of broader societal issues affecting access to higher education?</a:t>
            </a:r>
          </a:p>
          <a:p>
            <a:pPr lvl="0"/>
            <a:r>
              <a:rPr/>
              <a:t>What are the historical and systemic barriers that could explain the differences in enrollment rates among students?</a:t>
            </a:r>
          </a:p>
        </p:txBody>
      </p:sp>
    </p:spTree>
  </p:cSld>
</p:sld>
</file>

<file path=ppt/slides/slide1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Alternatively, in the spirit of </a:t>
            </a:r>
            <a:r>
              <a:rPr i="1"/>
              <a:t>refusal</a:t>
            </a:r>
            <a:r>
              <a:rPr/>
              <a:t>, some different questions come to the surface:</a:t>
            </a:r>
          </a:p>
          <a:p>
            <a:pPr lvl="0"/>
            <a:r>
              <a:rPr/>
              <a:t>What beliefs underlie the analysis of college enrollment rates?</a:t>
            </a:r>
          </a:p>
          <a:p>
            <a:pPr lvl="0"/>
            <a:r>
              <a:rPr/>
              <a:t>What assumptions are being made when quantifying educational pathways?</a:t>
            </a:r>
          </a:p>
          <a:p>
            <a:pPr lvl="0"/>
            <a:r>
              <a:rPr/>
              <a:t>How does rejecting conventional racial comparisons challenge power dynamics?</a:t>
            </a:r>
          </a:p>
          <a:p>
            <a:pPr lvl="0" indent="0" marL="0">
              <a:buNone/>
            </a:pPr>
            <a:r>
              <a:rPr/>
              <a:t>This second set of questions, as early examples of a practice of refusal, encourage your critical thinking in a few ways. First, the questions ask you to think about the less explicit components of the paragraph. Second, the questions present an option to reject conventional approaches to how we measure educational outcomes and ask why. Third, and to the seeming contradiction between refusal and exploration, a set of new pathways arise.</a:t>
            </a:r>
          </a:p>
        </p:txBody>
      </p:sp>
    </p:spTree>
  </p:cSld>
</p:sld>
</file>

<file path=ppt/slides/slide1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1270000">
              <a:buNone/>
            </a:pPr>
            <a:r>
              <a:rPr sz="2000" b="1"/>
              <a:t>Practice</a:t>
            </a:r>
          </a:p>
          <a:p>
            <a:pPr lvl="0" indent="0" marL="1270000">
              <a:buNone/>
            </a:pPr>
            <a:r>
              <a:rPr sz="2000"/>
              <a:t>Bad Stats (or BS), outlined by Professor Ivory Toldson, are data points that are poorly contextualized, generally negative, and they are often incomplete or incorrect. They are part of a problematic trend in which statistics are used to reinforce negative stereotypes. Identify two examples of </a:t>
            </a:r>
            <a:r>
              <a:rPr sz="2000" i="1"/>
              <a:t>Bad Stats</a:t>
            </a:r>
            <a:r>
              <a:rPr sz="2000"/>
              <a:t> in popular media.</a:t>
            </a:r>
          </a:p>
        </p:txBody>
      </p:sp>
    </p:spTree>
  </p:cSld>
</p:sld>
</file>

<file path=ppt/slides/slide1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 Content</a:t>
            </a:r>
          </a:p>
        </p:txBody>
      </p:sp>
    </p:spTree>
  </p:cSld>
</p:sld>
</file>

<file path=ppt/slides/slide1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The Big Picture</a:t>
            </a:r>
          </a:p>
          <a:p>
            <a:pPr lvl="0" indent="0" marL="0">
              <a:buNone/>
            </a:pPr>
            <a:r>
              <a:rPr/>
              <a:t>Pelham (2013) defines “statistics [as] a set of mathematical procedures for summarizing and interpreting observations” (p.5). Pelham describes </a:t>
            </a:r>
            <a:r>
              <a:rPr i="1"/>
              <a:t>descriptive</a:t>
            </a:r>
            <a:r>
              <a:rPr/>
              <a:t> statistics as “statistics used to summarize or describe a set of observations”, whereas </a:t>
            </a:r>
            <a:r>
              <a:rPr i="1"/>
              <a:t>inferential</a:t>
            </a:r>
            <a:r>
              <a:rPr/>
              <a:t> statistics are defined as “statistics used to draw inferences about a set of observations” (p. 5).</a:t>
            </a:r>
          </a:p>
          <a:p>
            <a:pPr lvl="0" indent="0" marL="0">
              <a:buNone/>
            </a:pPr>
            <a:r>
              <a:rPr/>
              <a:t>Some key concepts:</a:t>
            </a:r>
          </a:p>
          <a:p>
            <a:pPr lvl="0"/>
            <a:r>
              <a:rPr/>
              <a:t>Population parameter: A numerical characteristic of an entire population, often unknown and estimated using sample data.</a:t>
            </a:r>
          </a:p>
          <a:p>
            <a:pPr lvl="0"/>
            <a:r>
              <a:rPr/>
              <a:t>Sample statistic: A numerical value calculated from a sample to estimate a population parameter.</a:t>
            </a:r>
          </a:p>
          <a:p>
            <a:pPr lvl="0"/>
            <a:r>
              <a:rPr/>
              <a:t>Confidence interval: A range of values that likely contains an unknown population parameter, calculated with a specified level of confidence.</a:t>
            </a:r>
          </a:p>
          <a:p>
            <a:pPr lvl="0"/>
            <a:r>
              <a:rPr/>
              <a:t>Hypothesis test: A statistical method to make inferences about a population parameter based on sample data, involving null and alternative hypotheses.</a:t>
            </a:r>
          </a:p>
        </p:txBody>
      </p:sp>
    </p:spTree>
  </p:cSld>
</p:sld>
</file>

<file path=ppt/slides/slide1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a:t>Analysis of Variance (ANOVA): A statistical technique used to compare means across multiple groups, typically used when there are three or more categories of a single variable.</a:t>
            </a:r>
          </a:p>
          <a:p>
            <a:pPr lvl="0"/>
            <a:r>
              <a:rPr/>
              <a:t>Multiple comparisons: Statistical procedures used to control the family-wise error rate when making several simultaneous inferences or comparisons.</a:t>
            </a:r>
          </a:p>
          <a:p>
            <a:pPr lvl="0"/>
            <a:r>
              <a:rPr/>
              <a:t>Interaction effects: A situation in statistics where the effect of one variable on an outcome depends on the value of another variable.</a:t>
            </a:r>
          </a:p>
          <a:p>
            <a:pPr lvl="0"/>
            <a:r>
              <a:rPr/>
              <a:t>Correlation: A statistical measure that describes the strength and direction of the linear relationship between two variables.</a:t>
            </a:r>
          </a:p>
          <a:p>
            <a:pPr lvl="0"/>
            <a:r>
              <a:rPr/>
              <a:t>Regression: A statistical method used to model the relationship between a dependent variable and one or more independent variables.</a:t>
            </a:r>
          </a:p>
          <a:p>
            <a:pPr lvl="0"/>
            <a:r>
              <a:rPr/>
              <a:t>Chi-square tests: Statistical tests used to determine if there is a significant association between categorical variables or if observed frequencies differ from expected frequencies.</a:t>
            </a:r>
          </a:p>
        </p:txBody>
      </p:sp>
    </p:spTree>
  </p:cSld>
</p:sld>
</file>

<file path=ppt/slides/slide1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Descriptive measures</a:t>
            </a:r>
          </a:p>
          <a:p>
            <a:pPr lvl="0" indent="0" marL="0">
              <a:buNone/>
            </a:pPr>
            <a:r>
              <a:rPr b="1"/>
              <a:t>Measures of central tendency</a:t>
            </a:r>
            <a:r>
              <a:rPr/>
              <a:t>: These describe the “average” or central value of a set of observations.</a:t>
            </a:r>
          </a:p>
          <a:p>
            <a:pPr lvl="0"/>
            <a:r>
              <a:rPr/>
              <a:t>Mean: The arithmetic average of all values</a:t>
            </a:r>
          </a:p>
          <a:p>
            <a:pPr lvl="0"/>
            <a:r>
              <a:rPr/>
              <a:t>Median: The middle value when data is ordered</a:t>
            </a:r>
          </a:p>
          <a:p>
            <a:pPr lvl="0"/>
            <a:r>
              <a:rPr/>
              <a:t>Mode: The most frequently occurring value</a:t>
            </a:r>
          </a:p>
          <a:p>
            <a:pPr lvl="0" indent="0" marL="0">
              <a:buNone/>
            </a:pPr>
            <a:r>
              <a:rPr b="1"/>
              <a:t>Measures of dispersion</a:t>
            </a:r>
            <a:r>
              <a:rPr/>
              <a:t>: These describe how data vary or spread out from the central tendency.</a:t>
            </a:r>
          </a:p>
          <a:p>
            <a:pPr lvl="0"/>
            <a:r>
              <a:rPr/>
              <a:t>Range: The difference between the maximum and minimum values</a:t>
            </a:r>
          </a:p>
          <a:p>
            <a:pPr lvl="0"/>
            <a:r>
              <a:rPr/>
              <a:t>Variance: The average of squared deviations from the mean</a:t>
            </a:r>
          </a:p>
          <a:p>
            <a:pPr lvl="0"/>
            <a:r>
              <a:rPr/>
              <a:t>Standard deviation: The square root of the variance</a:t>
            </a:r>
          </a:p>
        </p:txBody>
      </p:sp>
    </p:spTree>
  </p:cSld>
</p:sld>
</file>

<file path=ppt/slides/slide1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EXAMPLE – entering values in R</a:t>
            </a:r>
          </a:p>
          <a:p>
            <a:pPr lvl="0" indent="0" marL="0">
              <a:buNone/>
            </a:pPr>
            <a:r>
              <a:rPr/>
              <a:t>Assume we have a small set of data: 2, 2, 4, 4. We can input and compute this data in </a:t>
            </a:r>
            <a:r>
              <a:rPr i="1"/>
              <a:t>R</a:t>
            </a:r>
            <a:r>
              <a:rPr/>
              <a:t> using the following code:</a:t>
            </a:r>
          </a:p>
          <a:p>
            <a:pPr lvl="0" indent="0">
              <a:buNone/>
            </a:pPr>
            <a:r>
              <a:rPr>
                <a:solidFill>
                  <a:srgbClr val="5E5E5E"/>
                </a:solidFill>
                <a:latin typeface="Courier"/>
              </a:rPr>
              <a:t># Generate sample data</a:t>
            </a:r>
            <a:br/>
            <a:r>
              <a:rPr>
                <a:solidFill>
                  <a:srgbClr val="003B4F"/>
                </a:solidFill>
                <a:latin typeface="Courier"/>
              </a:rPr>
              <a:t>x &lt;- </a:t>
            </a:r>
            <a:r>
              <a:rPr>
                <a:solidFill>
                  <a:srgbClr val="4758AB"/>
                </a:solidFill>
                <a:latin typeface="Courier"/>
              </a:rPr>
              <a:t>c</a:t>
            </a:r>
            <a:r>
              <a:rPr>
                <a:solidFill>
                  <a:srgbClr val="003B4F"/>
                </a:solidFill>
                <a:latin typeface="Courier"/>
              </a:rPr>
              <a:t>(</a:t>
            </a:r>
            <a:r>
              <a:rPr>
                <a:solidFill>
                  <a:srgbClr val="AD0000"/>
                </a:solidFill>
                <a:latin typeface="Courier"/>
              </a:rPr>
              <a:t>2</a:t>
            </a:r>
            <a:r>
              <a:rPr>
                <a:solidFill>
                  <a:srgbClr val="003B4F"/>
                </a:solidFill>
                <a:latin typeface="Courier"/>
              </a:rPr>
              <a:t>, </a:t>
            </a:r>
            <a:r>
              <a:rPr>
                <a:solidFill>
                  <a:srgbClr val="AD0000"/>
                </a:solidFill>
                <a:latin typeface="Courier"/>
              </a:rPr>
              <a:t>2</a:t>
            </a:r>
            <a:r>
              <a:rPr>
                <a:solidFill>
                  <a:srgbClr val="003B4F"/>
                </a:solidFill>
                <a:latin typeface="Courier"/>
              </a:rPr>
              <a:t>, </a:t>
            </a:r>
            <a:r>
              <a:rPr>
                <a:solidFill>
                  <a:srgbClr val="AD0000"/>
                </a:solidFill>
                <a:latin typeface="Courier"/>
              </a:rPr>
              <a:t>4</a:t>
            </a:r>
            <a:r>
              <a:rPr>
                <a:solidFill>
                  <a:srgbClr val="003B4F"/>
                </a:solidFill>
                <a:latin typeface="Courier"/>
              </a:rPr>
              <a:t>, </a:t>
            </a:r>
            <a:r>
              <a:rPr>
                <a:solidFill>
                  <a:srgbClr val="AD0000"/>
                </a:solidFill>
                <a:latin typeface="Courier"/>
              </a:rPr>
              <a:t>4</a:t>
            </a:r>
            <a:r>
              <a:rPr>
                <a:solidFill>
                  <a:srgbClr val="003B4F"/>
                </a:solidFill>
                <a:latin typeface="Courier"/>
              </a:rPr>
              <a:t>)</a:t>
            </a:r>
          </a:p>
        </p:txBody>
      </p:sp>
    </p:spTree>
  </p:cSld>
</p:sld>
</file>

<file path=ppt/slides/slide1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mean</a:t>
            </a:r>
            <a:br/>
            <a:r>
              <a:rPr>
                <a:solidFill>
                  <a:srgbClr val="003B4F"/>
                </a:solidFill>
                <a:latin typeface="Courier"/>
              </a:rPr>
              <a:t>m = </a:t>
            </a:r>
            <a:r>
              <a:rPr>
                <a:solidFill>
                  <a:srgbClr val="4758AB"/>
                </a:solidFill>
                <a:latin typeface="Courier"/>
              </a:rPr>
              <a:t>sum</a:t>
            </a:r>
            <a:r>
              <a:rPr>
                <a:solidFill>
                  <a:srgbClr val="003B4F"/>
                </a:solidFill>
                <a:latin typeface="Courier"/>
              </a:rPr>
              <a:t>(x)</a:t>
            </a:r>
            <a:r>
              <a:rPr>
                <a:solidFill>
                  <a:srgbClr val="5E5E5E"/>
                </a:solidFill>
                <a:latin typeface="Courier"/>
              </a:rPr>
              <a:t>/</a:t>
            </a:r>
            <a:r>
              <a:rPr>
                <a:solidFill>
                  <a:srgbClr val="AD0000"/>
                </a:solidFill>
                <a:latin typeface="Courier"/>
              </a:rPr>
              <a:t>4</a:t>
            </a:r>
            <a:br/>
            <a:r>
              <a:rPr>
                <a:solidFill>
                  <a:srgbClr val="003B4F"/>
                </a:solidFill>
                <a:latin typeface="Courier"/>
              </a:rPr>
              <a:t>m</a:t>
            </a:r>
          </a:p>
          <a:p>
            <a:pPr lvl="0" indent="0">
              <a:buNone/>
            </a:pPr>
            <a:r>
              <a:rPr>
                <a:latin typeface="Courier"/>
              </a:rPr>
              <a:t>[1] 3</a:t>
            </a:r>
          </a:p>
        </p:txBody>
      </p:sp>
    </p:spTree>
  </p:cSld>
</p:sld>
</file>

<file path=ppt/slides/slide1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median</a:t>
            </a:r>
            <a:br/>
            <a:r>
              <a:rPr>
                <a:solidFill>
                  <a:srgbClr val="4758AB"/>
                </a:solidFill>
                <a:latin typeface="Courier"/>
              </a:rPr>
              <a:t>median</a:t>
            </a:r>
            <a:r>
              <a:rPr>
                <a:solidFill>
                  <a:srgbClr val="003B4F"/>
                </a:solidFill>
                <a:latin typeface="Courier"/>
              </a:rPr>
              <a:t>(x)</a:t>
            </a:r>
          </a:p>
          <a:p>
            <a:pPr lvl="0" indent="0">
              <a:buNone/>
            </a:pPr>
            <a:r>
              <a:rPr>
                <a:latin typeface="Courier"/>
              </a:rPr>
              <a:t>[1] 3</a:t>
            </a:r>
          </a:p>
        </p:txBody>
      </p:sp>
    </p:spTree>
  </p:cSld>
</p:sld>
</file>

<file path=ppt/slides/slide1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solidFill>
                  <a:srgbClr val="5E5E5E"/>
                </a:solidFill>
                <a:latin typeface="Courier"/>
              </a:rPr>
              <a:t># compute the mode</a:t>
            </a:r>
            <a:br/>
            <a:r>
              <a:rPr>
                <a:solidFill>
                  <a:srgbClr val="4758AB"/>
                </a:solidFill>
                <a:latin typeface="Courier"/>
              </a:rPr>
              <a:t>mode</a:t>
            </a:r>
            <a:r>
              <a:rPr>
                <a:solidFill>
                  <a:srgbClr val="003B4F"/>
                </a:solidFill>
                <a:latin typeface="Courier"/>
              </a:rPr>
              <a:t>(x)</a:t>
            </a:r>
          </a:p>
          <a:p>
            <a:pPr lvl="0" indent="0">
              <a:buNone/>
            </a:pPr>
            <a:r>
              <a:rPr>
                <a:latin typeface="Courier"/>
              </a:rPr>
              <a:t>[1] "numeric"</a:t>
            </a:r>
          </a:p>
          <a:p>
            <a:pPr lvl="0" indent="0">
              <a:buNone/>
            </a:pPr>
            <a:r>
              <a:rPr>
                <a:solidFill>
                  <a:srgbClr val="003B4F"/>
                </a:solidFill>
                <a:latin typeface="Courier"/>
              </a:rPr>
              <a:t>table.x &lt;- </a:t>
            </a:r>
            <a:r>
              <a:rPr>
                <a:solidFill>
                  <a:srgbClr val="4758AB"/>
                </a:solidFill>
                <a:latin typeface="Courier"/>
              </a:rPr>
              <a:t>table</a:t>
            </a:r>
            <a:r>
              <a:rPr>
                <a:solidFill>
                  <a:srgbClr val="003B4F"/>
                </a:solidFill>
                <a:latin typeface="Courier"/>
              </a:rPr>
              <a:t>(x)</a:t>
            </a:r>
            <a:br/>
            <a:r>
              <a:rPr>
                <a:solidFill>
                  <a:srgbClr val="003B4F"/>
                </a:solidFill>
                <a:latin typeface="Courier"/>
              </a:rPr>
              <a:t>table.x</a:t>
            </a:r>
          </a:p>
          <a:p>
            <a:pPr lvl="0" indent="0">
              <a:buNone/>
            </a:pPr>
            <a:r>
              <a:rPr>
                <a:latin typeface="Courier"/>
              </a:rPr>
              <a:t>x
2 4 
2 2 </a:t>
            </a:r>
          </a:p>
        </p:txBody>
      </p:sp>
    </p:spTree>
  </p:cSld>
</p:sld>
</file>

<file path=ppt/slides/slide2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4" name="Text Placeholder 3"/>
          <p:cNvSpPr>
            <a:spLocks noGrp="1"/>
          </p:cNvSpPr>
          <p:nvPr>
            <p:ph idx="2" sz="half" type="body"/>
          </p:nvPr>
        </p:nvSpPr>
        <p:spPr/>
        <p:txBody>
          <a:bodyPr/>
          <a:lstStyle/>
          <a:p>
            <a:pPr lvl="0" indent="0">
              <a:buNone/>
            </a:pPr>
            <a:r>
              <a:rPr>
                <a:solidFill>
                  <a:srgbClr val="5E5E5E"/>
                </a:solidFill>
                <a:latin typeface="Courier"/>
              </a:rPr>
              <a:t># create a histogram</a:t>
            </a:r>
            <a:br/>
            <a:r>
              <a:rPr>
                <a:solidFill>
                  <a:srgbClr val="4758AB"/>
                </a:solidFill>
                <a:latin typeface="Courier"/>
              </a:rPr>
              <a:t>hist</a:t>
            </a:r>
            <a:r>
              <a:rPr>
                <a:solidFill>
                  <a:srgbClr val="003B4F"/>
                </a:solidFill>
                <a:latin typeface="Courier"/>
              </a:rPr>
              <a:t>(x)</a:t>
            </a:r>
          </a:p>
        </p:txBody>
      </p:sp>
      <p:pic>
        <p:nvPicPr>
          <p:cNvPr descr="week02_files/figure-pptx/unnamed-chunk-8-1.png" id="0" name="Picture 1"/>
          <p:cNvPicPr>
            <a:picLocks noGrp="1" noChangeAspect="1"/>
          </p:cNvPicPr>
          <p:nvPr/>
        </p:nvPicPr>
        <p:blipFill>
          <a:blip r:embed="rId2"/>
          <a:stretch>
            <a:fillRect/>
          </a:stretch>
        </p:blipFill>
        <p:spPr bwMode="auto">
          <a:xfrm>
            <a:off x="3568700" y="1117600"/>
            <a:ext cx="5105400" cy="2552700"/>
          </a:xfrm>
          <a:prstGeom prst="rect">
            <a:avLst/>
          </a:prstGeom>
          <a:noFill/>
          <a:ln w="9525">
            <a:noFill/>
            <a:headEnd/>
            <a:tailEnd/>
          </a:ln>
        </p:spPr>
      </p:pic>
    </p:spTree>
  </p:cSld>
</p:sld>
</file>

<file path=ppt/slides/slide2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a:t>You also may recall the standard deviation, </a:t>
                </a:r>
                <a14:m>
                  <m:oMath xmlns:m="http://schemas.openxmlformats.org/officeDocument/2006/math">
                    <m:r>
                      <m:t>S</m:t>
                    </m:r>
                  </m:oMath>
                </a14:m>
                <a:r>
                  <a:rPr/>
                  <a:t>, of a set of values is calculated using:</a:t>
                </a:r>
              </a:p>
              <a:p>
                <a:pPr lvl="0" indent="0" marL="0">
                  <a:buNone/>
                </a:pPr>
                <a14:m>
                  <m:oMathPara xmlns:m="http://schemas.openxmlformats.org/officeDocument/2006/math">
                    <m:oMathParaPr>
                      <m:jc m:val="center"/>
                    </m:oMathParaPr>
                    <m:oMath>
                      <m:r>
                        <m:t>S</m:t>
                      </m:r>
                      <m:r>
                        <m:rPr>
                          <m:sty m:val="p"/>
                        </m:rPr>
                        <m:t>=</m:t>
                      </m:r>
                      <m:rad>
                        <m:radPr>
                          <m:degHide m:val="on"/>
                        </m:radPr>
                        <m:deg/>
                        <m:e>
                          <m:f>
                            <m:fPr>
                              <m:type m:val="bar"/>
                            </m:fPr>
                            <m:num>
                              <m:r>
                                <m:t>Σ</m:t>
                              </m:r>
                              <m:sSup>
                                <m:e>
                                  <m:d>
                                    <m:dPr>
                                      <m:begChr m:val="("/>
                                      <m:endChr m:val=")"/>
                                      <m:sepChr m:val=""/>
                                      <m:grow/>
                                    </m:dPr>
                                    <m:e>
                                      <m:r>
                                        <m:t>x</m:t>
                                      </m:r>
                                      <m:r>
                                        <m:rPr>
                                          <m:sty m:val="p"/>
                                        </m:rPr>
                                        <m:t>−</m:t>
                                      </m:r>
                                      <m:r>
                                        <m:t>m</m:t>
                                      </m:r>
                                    </m:e>
                                  </m:d>
                                </m:e>
                                <m:sup>
                                  <m:r>
                                    <m:t>2</m:t>
                                  </m:r>
                                </m:sup>
                              </m:sSup>
                            </m:num>
                            <m:den>
                              <m:r>
                                <m:t>n</m:t>
                              </m:r>
                            </m:den>
                          </m:f>
                        </m:e>
                      </m:rad>
                    </m:oMath>
                  </m:oMathPara>
                </a14:m>
              </a:p>
              <a:p>
                <a:pPr lvl="0" indent="0" marL="0">
                  <a:spcBef>
                    <a:spcPts val="3000"/>
                  </a:spcBef>
                  <a:buNone/>
                </a:pPr>
                <a:r>
                  <a:rPr b="1"/>
                  <a:t>EXAMPLE – Standard deviation of a set</a:t>
                </a:r>
              </a:p>
              <a:p>
                <a:pPr lvl="0" indent="0" marL="0">
                  <a:buNone/>
                </a:pPr>
                <a:r>
                  <a:rPr/>
                  <a:t>Assume we have a small set of data: 2, 2, 4, 4. Using the formula for standard deviation above, where </a:t>
                </a:r>
                <a14:m>
                  <m:oMath xmlns:m="http://schemas.openxmlformats.org/officeDocument/2006/math">
                    <m:r>
                      <m:t>x</m:t>
                    </m:r>
                  </m:oMath>
                </a14:m>
                <a:r>
                  <a:rPr/>
                  <a:t> is the score, </a:t>
                </a:r>
                <a14:m>
                  <m:oMath xmlns:m="http://schemas.openxmlformats.org/officeDocument/2006/math">
                    <m:r>
                      <m:t>m</m:t>
                    </m:r>
                  </m:oMath>
                </a14:m>
                <a:r>
                  <a:rPr/>
                  <a:t> is the mean (sometimes referred to as </a:t>
                </a:r>
                <a14:m>
                  <m:oMath xmlns:m="http://schemas.openxmlformats.org/officeDocument/2006/math">
                    <m:acc>
                      <m:accPr>
                        <m:chr m:val="‾"/>
                      </m:accPr>
                      <m:e>
                        <m:r>
                          <m:t>x</m:t>
                        </m:r>
                      </m:e>
                    </m:acc>
                  </m:oMath>
                </a14:m>
                <a:r>
                  <a:rPr/>
                  <a:t>), and </a:t>
                </a:r>
                <a14:m>
                  <m:oMath xmlns:m="http://schemas.openxmlformats.org/officeDocument/2006/math">
                    <m:r>
                      <m:t>n</m:t>
                    </m:r>
                  </m:oMath>
                </a14:m>
                <a:r>
                  <a:rPr/>
                  <a:t> is the sample size, we get the following:</a:t>
                </a:r>
              </a:p>
              <a:p>
                <a:pPr lvl="0" indent="0" marL="0">
                  <a:buNone/>
                </a:pPr>
                <a14:m>
                  <m:oMathPara xmlns:m="http://schemas.openxmlformats.org/officeDocument/2006/math">
                    <m:oMathParaPr>
                      <m:jc m:val="center"/>
                    </m:oMathParaPr>
                    <m:oMath>
                      <m:f>
                        <m:fPr>
                          <m:type m:val="bar"/>
                        </m:fPr>
                        <m:num>
                          <m:sSup>
                            <m:e>
                              <m:d>
                                <m:dPr>
                                  <m:begChr m:val="("/>
                                  <m:endChr m:val=")"/>
                                  <m:sepChr m:val=""/>
                                  <m:grow/>
                                </m:dPr>
                                <m:e>
                                  <m:r>
                                    <m:t>2</m:t>
                                  </m:r>
                                  <m:r>
                                    <m:rPr>
                                      <m:sty m:val="p"/>
                                    </m:rPr>
                                    <m:t>−</m:t>
                                  </m:r>
                                  <m:r>
                                    <m:t>3</m:t>
                                  </m:r>
                                </m:e>
                              </m:d>
                            </m:e>
                            <m:sup>
                              <m:r>
                                <m:t>2</m:t>
                              </m:r>
                            </m:sup>
                          </m:sSup>
                          <m:r>
                            <m:rPr>
                              <m:sty m:val="p"/>
                            </m:rPr>
                            <m:t>+</m:t>
                          </m:r>
                          <m:sSup>
                            <m:e>
                              <m:d>
                                <m:dPr>
                                  <m:begChr m:val="("/>
                                  <m:endChr m:val=")"/>
                                  <m:sepChr m:val=""/>
                                  <m:grow/>
                                </m:dPr>
                                <m:e>
                                  <m:r>
                                    <m:t>2</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r>
                            <m:rPr>
                              <m:sty m:val="p"/>
                            </m:rPr>
                            <m:t>+</m:t>
                          </m:r>
                          <m:sSup>
                            <m:e>
                              <m:d>
                                <m:dPr>
                                  <m:begChr m:val="("/>
                                  <m:endChr m:val=")"/>
                                  <m:sepChr m:val=""/>
                                  <m:grow/>
                                </m:dPr>
                                <m:e>
                                  <m:r>
                                    <m:t>4</m:t>
                                  </m:r>
                                  <m:r>
                                    <m:rPr>
                                      <m:sty m:val="p"/>
                                    </m:rPr>
                                    <m:t>−</m:t>
                                  </m:r>
                                  <m:r>
                                    <m:t>3</m:t>
                                  </m:r>
                                </m:e>
                              </m:d>
                            </m:e>
                            <m:sup>
                              <m:r>
                                <m:t>2</m:t>
                              </m:r>
                            </m:sup>
                          </m:sSup>
                        </m:num>
                        <m:den>
                          <m:r>
                            <m:t>4</m:t>
                          </m:r>
                        </m:den>
                      </m:f>
                      <m:r>
                        <m:rPr>
                          <m:sty m:val="p"/>
                        </m:rPr>
                        <m:t>=</m:t>
                      </m:r>
                      <m:f>
                        <m:fPr>
                          <m:type m:val="bar"/>
                        </m:fPr>
                        <m:num>
                          <m:r>
                            <m:t>1</m:t>
                          </m:r>
                          <m:r>
                            <m:rPr>
                              <m:sty m:val="p"/>
                            </m:rPr>
                            <m:t>+</m:t>
                          </m:r>
                          <m:r>
                            <m:t>1</m:t>
                          </m:r>
                          <m:r>
                            <m:rPr>
                              <m:sty m:val="p"/>
                            </m:rPr>
                            <m:t>+</m:t>
                          </m:r>
                          <m:r>
                            <m:t>1</m:t>
                          </m:r>
                          <m:r>
                            <m:rPr>
                              <m:sty m:val="p"/>
                            </m:rPr>
                            <m:t>+</m:t>
                          </m:r>
                          <m:r>
                            <m:t>1</m:t>
                          </m:r>
                        </m:num>
                        <m:den>
                          <m:r>
                            <m:t>4</m:t>
                          </m:r>
                        </m:den>
                      </m:f>
                      <m:r>
                        <m:rPr>
                          <m:sty m:val="p"/>
                        </m:rPr>
                        <m:t>=</m:t>
                      </m:r>
                      <m:r>
                        <m:t>1</m:t>
                      </m:r>
                    </m:oMath>
                  </m:oMathPara>
                </a14:m>
              </a:p>
              <a:p>
                <a:pPr lvl="0" indent="0" marL="0">
                  <a:buNone/>
                </a:pPr>
                <a:r>
                  <a:rPr/>
                  <a:t>Most formulas of this nature are programmed into </a:t>
                </a:r>
                <a:r>
                  <a:rPr i="1"/>
                  <a:t>R/RStudio</a:t>
                </a:r>
                <a:r>
                  <a:rPr/>
                  <a:t>, but for more advanced modeling, we learn how to input raw data and formula into the software.</a:t>
                </a:r>
              </a:p>
            </p:txBody>
          </p:sp>
        </mc:Choice>
      </mc:AlternateContent>
    </p:spTree>
  </p:cSld>
</p:sld>
</file>

<file path=ppt/slides/slide2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spcBef>
                <a:spcPts val="3000"/>
              </a:spcBef>
              <a:buNone/>
            </a:pPr>
            <a:r>
              <a:rPr b="1"/>
              <a:t>Inferential measures</a:t>
            </a:r>
          </a:p>
          <a:p>
            <a:pPr lvl="0" indent="0" marL="0">
              <a:buNone/>
            </a:pPr>
            <a:r>
              <a:rPr/>
              <a:t>Pelham notes that “the basic idea behind inferential statistical testing is that decisions about what to conclude from a set of research findings need to be made in a logical, unbiased fashoion” (p. 13). However, with a more critical lens on the development of statistics and some of the assumptions made in the mathematical models, we need to consider more concretely about the role of </a:t>
            </a:r>
            <a:r>
              <a:rPr b="1"/>
              <a:t>theory</a:t>
            </a:r>
            <a:r>
              <a:rPr/>
              <a:t> and </a:t>
            </a:r>
            <a:r>
              <a:rPr b="1"/>
              <a:t>context</a:t>
            </a:r>
            <a:r>
              <a:rPr/>
              <a:t> in making inferences about data.</a:t>
            </a:r>
          </a:p>
        </p:txBody>
      </p:sp>
    </p:spTree>
  </p:cSld>
</p:sld>
</file>

<file path=ppt/slides/slide2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What should it mean to be critical in the context of statistics?</a:t>
            </a:r>
          </a:p>
        </p:txBody>
      </p:sp>
      <p:sp>
        <p:nvSpPr>
          <p:cNvPr id="3" name="Content Placeholder 2"/>
          <p:cNvSpPr>
            <a:spLocks noGrp="1"/>
          </p:cNvSpPr>
          <p:nvPr>
            <p:ph idx="1"/>
          </p:nvPr>
        </p:nvSpPr>
        <p:spPr/>
        <p:txBody>
          <a:bodyPr/>
          <a:lstStyle/>
          <a:p>
            <a:pPr lvl="0" indent="0" marL="0">
              <a:spcBef>
                <a:spcPts val="3000"/>
              </a:spcBef>
              <a:buNone/>
            </a:pPr>
            <a:r>
              <a:rPr b="1"/>
              <a:t>Notes from </a:t>
            </a:r>
            <a:r>
              <a:rPr b="1" i="1"/>
              <a:t>Duncan (n.d.)</a:t>
            </a:r>
            <a:r>
              <a:rPr b="1"/>
              <a:t> reading.</a:t>
            </a:r>
          </a:p>
          <a:p>
            <a:pPr lvl="0" indent="0" marL="0">
              <a:buNone/>
            </a:pPr>
            <a:r>
              <a:rPr/>
              <a:t>On Canvas, in the Week 2 folder, there is a document titled “Critical Thinking” by Jennifer Duncan. This document is one example of how we can frame what it could or should mean to be critical in statistics. Please review this document.</a:t>
            </a:r>
          </a:p>
        </p:txBody>
      </p:sp>
    </p:spTree>
  </p:cSld>
</p:sld>
</file>

<file path=ppt/slides/slide2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higher order of thinking</a:t>
            </a:r>
            <a:r>
              <a:rPr/>
              <a:t>. Duncan emphasizes that </a:t>
            </a:r>
            <a:r>
              <a:rPr i="1"/>
              <a:t>critical thinking is a higher order of thinking</a:t>
            </a:r>
            <a:r>
              <a:rPr/>
              <a:t> with different advanced thinking skills, and offers a few suggestions.</a:t>
            </a:r>
          </a:p>
          <a:p>
            <a:pPr lvl="1"/>
            <a:r>
              <a:rPr/>
              <a:t>We base our thinking on logic and not on feelings.</a:t>
            </a:r>
          </a:p>
          <a:p>
            <a:pPr lvl="1"/>
            <a:r>
              <a:rPr/>
              <a:t>We should look deeper into inferences for hidden assumptions or values.</a:t>
            </a:r>
          </a:p>
          <a:p>
            <a:pPr lvl="1"/>
            <a:r>
              <a:rPr/>
              <a:t>Ask complex questions that help build a critical inquiry.</a:t>
            </a:r>
          </a:p>
        </p:txBody>
      </p:sp>
    </p:spTree>
  </p:cSld>
</p:sld>
</file>

<file path=ppt/slides/slide2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Asking complex questions</a:t>
            </a:r>
            <a:r>
              <a:rPr/>
              <a:t>. Duncan breaks down the process into a few sub-questions.</a:t>
            </a:r>
          </a:p>
          <a:p>
            <a:pPr lvl="1"/>
            <a:r>
              <a:rPr/>
              <a:t>Who is the implied audience?</a:t>
            </a:r>
          </a:p>
          <a:p>
            <a:pPr lvl="1"/>
            <a:r>
              <a:rPr/>
              <a:t>What are the strengths and weaknesses of the argument?</a:t>
            </a:r>
          </a:p>
          <a:p>
            <a:pPr lvl="1"/>
            <a:r>
              <a:rPr/>
              <a:t>What are the underlying assumptions and values?</a:t>
            </a:r>
          </a:p>
        </p:txBody>
      </p:sp>
    </p:spTree>
  </p:cSld>
</p:sld>
</file>

<file path=ppt/slides/slide2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Using a variety of thinking processes</a:t>
            </a:r>
            <a:r>
              <a:rPr/>
              <a:t>. Duncan defines a process around </a:t>
            </a:r>
            <a:r>
              <a:rPr i="1"/>
              <a:t>analyzing</a:t>
            </a:r>
            <a:r>
              <a:rPr/>
              <a:t>, </a:t>
            </a:r>
            <a:r>
              <a:rPr i="1"/>
              <a:t>synthesizing</a:t>
            </a:r>
            <a:r>
              <a:rPr/>
              <a:t>, </a:t>
            </a:r>
            <a:r>
              <a:rPr i="1"/>
              <a:t>interpreting</a:t>
            </a:r>
            <a:r>
              <a:rPr/>
              <a:t>, and </a:t>
            </a:r>
            <a:r>
              <a:rPr i="1"/>
              <a:t>evaluating</a:t>
            </a:r>
            <a:r>
              <a:rPr/>
              <a:t> information that helps with our thinking.</a:t>
            </a:r>
          </a:p>
        </p:txBody>
      </p:sp>
    </p:spTree>
  </p:cSld>
</p:sld>
</file>

<file path=ppt/slides/slide2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a:r>
              <a:rPr b="1"/>
              <a:t>Reflecting on how we answer a question</a:t>
            </a:r>
            <a:r>
              <a:rPr/>
              <a:t>. Duncan ends with a set of questions that help us think about different points of view, if we have clarity, and if more details are needed.</a:t>
            </a:r>
          </a:p>
        </p:txBody>
      </p:sp>
    </p:spTree>
  </p:cSld>
</p:sld>
</file>

<file path=ppt/slides/slide2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The quantification of information can help us understand and represent important situations. We’ll begin by exploring the concept of a set, and how it is defined in mathematics and used to frame various situations.</a:t>
            </a:r>
          </a:p>
        </p:txBody>
      </p:sp>
    </p:spTree>
  </p:cSld>
</p:sld>
</file>

<file path=ppt/slides/slide2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 Set</a:t>
                </a:r>
              </a:p>
              <a:p>
                <a:pPr lvl="0" indent="0" marL="1270000">
                  <a:buNone/>
                </a:pPr>
                <a:r>
                  <a:rPr sz="2000"/>
                  <a:t>A </a:t>
                </a:r>
                <a:r>
                  <a:rPr sz="2000" b="1"/>
                  <a:t>set</a:t>
                </a:r>
                <a:r>
                  <a:rPr sz="2000"/>
                  <a:t> is a well-defined collection of elements or items.</a:t>
                </a:r>
              </a:p>
              <a:p>
                <a:pPr lvl="0" indent="0" marL="0">
                  <a:buNone/>
                </a:pPr>
                <a:r>
                  <a:rPr/>
                  <a:t>A set is characterized by its contents, or what is generally referred to as a set’s </a:t>
                </a:r>
                <a:r>
                  <a:rPr i="1"/>
                  <a:t>elements</a:t>
                </a:r>
                <a:r>
                  <a:rPr/>
                  <a:t>. If we are given two sets, the sets are considered equal if and only if they have exactly the same elements. The basic relation for sets is that of membership in a particular set.</a:t>
                </a:r>
              </a:p>
              <a:p>
                <a:pPr lvl="0"/>
                <a:r>
                  <a:rPr/>
                  <a:t>We write </a:t>
                </a:r>
                <a14:m>
                  <m:oMath xmlns:m="http://schemas.openxmlformats.org/officeDocument/2006/math">
                    <m:r>
                      <m:t>x</m:t>
                    </m:r>
                    <m:r>
                      <m:rPr>
                        <m:sty m:val="p"/>
                      </m:rPr>
                      <m:t>∈</m:t>
                    </m:r>
                    <m:r>
                      <m:t>X</m:t>
                    </m:r>
                  </m:oMath>
                </a14:m>
                <a:r>
                  <a:rPr/>
                  <a:t> to indicate that the object </a:t>
                </a:r>
                <a14:m>
                  <m:oMath xmlns:m="http://schemas.openxmlformats.org/officeDocument/2006/math">
                    <m:r>
                      <m:t>x</m:t>
                    </m:r>
                  </m:oMath>
                </a14:m>
                <a:r>
                  <a:rPr/>
                  <a:t> is an element (or member) of the set </a:t>
                </a:r>
                <a14:m>
                  <m:oMath xmlns:m="http://schemas.openxmlformats.org/officeDocument/2006/math">
                    <m:r>
                      <m:t>X</m:t>
                    </m:r>
                  </m:oMath>
                </a14:m>
                <a:r>
                  <a:rPr/>
                  <a:t>.</a:t>
                </a:r>
              </a:p>
            </p:txBody>
          </p:sp>
        </mc:Choice>
      </mc:AlternateContent>
    </p:spTree>
  </p:cSld>
</p:sld>
</file>

<file path=ppt/slides/slide3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0">
                  <a:buNone/>
                </a:pPr>
                <a:r>
                  <a:rPr b="1"/>
                  <a:t>A FEW IMPORTANT NOTES</a:t>
                </a:r>
                <a:r>
                  <a:rPr/>
                  <a:t>:</a:t>
                </a:r>
              </a:p>
              <a:p>
                <a:pPr lvl="0" indent="0" marL="0">
                  <a:buNone/>
                </a:pPr>
                <a:r>
                  <a:rPr b="1"/>
                  <a:t>Note 1</a:t>
                </a:r>
                <a:r>
                  <a:rPr/>
                  <a:t>: We tend to </a:t>
                </a:r>
                <a:r>
                  <a:rPr i="1"/>
                  <a:t>label sets using capital letters</a:t>
                </a:r>
                <a:r>
                  <a:rPr/>
                  <a:t>.</a:t>
                </a:r>
              </a:p>
              <a:p>
                <a:pPr lvl="0"/>
                <a:r>
                  <a:rPr/>
                  <a:t>For example, we may label two different sets as </a:t>
                </a:r>
                <a14:m>
                  <m:oMath xmlns:m="http://schemas.openxmlformats.org/officeDocument/2006/math">
                    <m:r>
                      <m:t>X</m:t>
                    </m:r>
                  </m:oMath>
                </a14:m>
                <a:r>
                  <a:rPr/>
                  <a:t> and </a:t>
                </a:r>
                <a14:m>
                  <m:oMath xmlns:m="http://schemas.openxmlformats.org/officeDocument/2006/math">
                    <m:r>
                      <m:t>Y</m:t>
                    </m:r>
                  </m:oMath>
                </a14:m>
                <a:r>
                  <a:rPr/>
                  <a:t> or as </a:t>
                </a:r>
                <a14:m>
                  <m:oMath xmlns:m="http://schemas.openxmlformats.org/officeDocument/2006/math">
                    <m:r>
                      <m:t>A</m:t>
                    </m:r>
                  </m:oMath>
                </a14:m>
                <a:r>
                  <a:rPr/>
                  <a:t> and </a:t>
                </a:r>
                <a14:m>
                  <m:oMath xmlns:m="http://schemas.openxmlformats.org/officeDocument/2006/math">
                    <m:r>
                      <m:t>B</m:t>
                    </m:r>
                  </m:oMath>
                </a14:m>
                <a:r>
                  <a:rPr/>
                  <a:t>.</a:t>
                </a:r>
              </a:p>
              <a:p>
                <a:pPr lvl="0" indent="0" marL="0">
                  <a:buNone/>
                </a:pPr>
                <a:r>
                  <a:rPr b="1"/>
                  <a:t>Note 2</a:t>
                </a:r>
                <a:r>
                  <a:rPr/>
                  <a:t>: We </a:t>
                </a:r>
                <a:r>
                  <a:rPr i="1"/>
                  <a:t>use curly brackets</a:t>
                </a:r>
                <a:r>
                  <a:rPr/>
                  <a:t> { and } </a:t>
                </a:r>
                <a:r>
                  <a:rPr i="1"/>
                  <a:t>to enclose the elements of a set</a:t>
                </a:r>
                <a:r>
                  <a:rPr/>
                  <a:t>.</a:t>
                </a:r>
              </a:p>
              <a:p>
                <a:pPr lvl="0"/>
                <a:r>
                  <a:rPr/>
                  <a:t>Parentheses ( and ) are often used to indicate a point like </a:t>
                </a:r>
                <a14:m>
                  <m:oMath xmlns:m="http://schemas.openxmlformats.org/officeDocument/2006/math">
                    <m:d>
                      <m:dPr>
                        <m:begChr m:val="("/>
                        <m:endChr m:val=")"/>
                        <m:sepChr m:val=""/>
                        <m:grow/>
                      </m:dPr>
                      <m:e>
                        <m:r>
                          <m:t>x</m:t>
                        </m:r>
                        <m:r>
                          <m:rPr>
                            <m:sty m:val="p"/>
                          </m:rPr>
                          <m:t>,</m:t>
                        </m:r>
                        <m:r>
                          <m:t>f</m:t>
                        </m:r>
                        <m:d>
                          <m:dPr>
                            <m:begChr m:val="("/>
                            <m:endChr m:val=")"/>
                            <m:sepChr m:val=""/>
                            <m:grow/>
                          </m:dPr>
                          <m:e>
                            <m:r>
                              <m:t>x</m:t>
                            </m:r>
                          </m:e>
                        </m:d>
                      </m:e>
                    </m:d>
                  </m:oMath>
                </a14:m>
                <a:r>
                  <a:rPr/>
                  <a:t> or an open interval</a:t>
                </a:r>
              </a:p>
              <a:p>
                <a:pPr lvl="0"/>
                <a:r>
                  <a:rPr/>
                  <a:t>Square brackets [ and ] are often used to separate sets or to indicate a closed interval.</a:t>
                </a:r>
              </a:p>
              <a:p>
                <a:pPr lvl="0" indent="0" marL="0">
                  <a:buNone/>
                </a:pPr>
                <a:r>
                  <a:rPr b="1"/>
                  <a:t>Note 3</a:t>
                </a:r>
                <a:r>
                  <a:rPr/>
                  <a:t>: We tend to </a:t>
                </a:r>
                <a:r>
                  <a:rPr i="1"/>
                  <a:t>list the elements of a set using lower case letters</a:t>
                </a:r>
                <a:r>
                  <a:rPr/>
                  <a:t> with subscripts, </a:t>
                </a:r>
                <a14:m>
                  <m:oMath xmlns:m="http://schemas.openxmlformats.org/officeDocument/2006/math">
                    <m:sSub>
                      <m:e>
                        <m:r>
                          <m:t>x</m:t>
                        </m:r>
                      </m:e>
                      <m:sub>
                        <m:r>
                          <m:t>i</m:t>
                        </m:r>
                      </m:sub>
                    </m:sSub>
                  </m:oMath>
                </a14:m>
                <a:r>
                  <a:rPr/>
                  <a:t>.</a:t>
                </a:r>
              </a:p>
              <a:p>
                <a:pPr lvl="0"/>
                <a:r>
                  <a:rPr/>
                  <a:t>The </a:t>
                </a:r>
                <a14:m>
                  <m:oMath xmlns:m="http://schemas.openxmlformats.org/officeDocument/2006/math">
                    <m:r>
                      <m:t>i</m:t>
                    </m:r>
                  </m:oMath>
                </a14:m>
                <a:r>
                  <a:rPr/>
                  <a:t> in </a:t>
                </a:r>
                <a14:m>
                  <m:oMath xmlns:m="http://schemas.openxmlformats.org/officeDocument/2006/math">
                    <m:sSub>
                      <m:e>
                        <m:r>
                          <m:t>x</m:t>
                        </m:r>
                      </m:e>
                      <m:sub>
                        <m:r>
                          <m:t>i</m:t>
                        </m:r>
                      </m:sub>
                    </m:sSub>
                  </m:oMath>
                </a14:m>
                <a:r>
                  <a:rPr/>
                  <a:t> is a subscript that is used as a “position indicator,” with </a:t>
                </a:r>
                <a14:m>
                  <m:oMath xmlns:m="http://schemas.openxmlformats.org/officeDocument/2006/math">
                    <m:r>
                      <m:t>i</m:t>
                    </m:r>
                    <m:r>
                      <m:rPr>
                        <m:sty m:val="p"/>
                      </m:rPr>
                      <m:t>=</m:t>
                    </m:r>
                    <m:r>
                      <m:t>1</m:t>
                    </m:r>
                    <m:r>
                      <m:rPr>
                        <m:sty m:val="p"/>
                      </m:rPr>
                      <m:t>,</m:t>
                    </m:r>
                    <m:r>
                      <m:t>2</m:t>
                    </m:r>
                    <m:r>
                      <m:rPr>
                        <m:sty m:val="p"/>
                      </m:rPr>
                      <m:t>,</m:t>
                    </m:r>
                    <m:r>
                      <m:t>3</m:t>
                    </m:r>
                    <m:r>
                      <m:rPr>
                        <m:sty m:val="p"/>
                      </m:rPr>
                      <m:t>,</m:t>
                    </m:r>
                    <m:r>
                      <m:rPr>
                        <m:sty m:val="p"/>
                      </m:rPr>
                      <m:t>.</m:t>
                    </m:r>
                    <m:r>
                      <m:rPr>
                        <m:sty m:val="p"/>
                      </m:rPr>
                      <m:t>.</m:t>
                    </m:r>
                    <m:r>
                      <m:rPr>
                        <m:sty m:val="p"/>
                      </m:rPr>
                      <m:t>.</m:t>
                    </m:r>
                  </m:oMath>
                </a14:m>
              </a:p>
              <a:p>
                <a:pPr lvl="0"/>
                <a:r>
                  <a:rPr/>
                  <a:t>We use subscripts to index the elements of a set: </a:t>
                </a:r>
                <a14:m>
                  <m:oMath xmlns:m="http://schemas.openxmlformats.org/officeDocument/2006/math">
                    <m:r>
                      <m:t>X</m:t>
                    </m:r>
                    <m:r>
                      <m:rPr>
                        <m:sty m:val="p"/>
                      </m:rPr>
                      <m:t>=</m:t>
                    </m:r>
                    <m:r>
                      <m:rPr>
                        <m:sty m:val="p"/>
                      </m:rPr>
                      <m:t>{</m:t>
                    </m:r>
                    <m:sSub>
                      <m:e>
                        <m:r>
                          <m:t>x</m:t>
                        </m:r>
                      </m:e>
                      <m:sub>
                        <m:r>
                          <m:t>1</m:t>
                        </m:r>
                      </m:sub>
                    </m:sSub>
                    <m:r>
                      <m:rPr>
                        <m:sty m:val="p"/>
                      </m:rPr>
                      <m:t>,</m:t>
                    </m:r>
                    <m:sSub>
                      <m:e>
                        <m:r>
                          <m:t>x</m:t>
                        </m:r>
                      </m:e>
                      <m:sub>
                        <m:r>
                          <m:t>2</m:t>
                        </m:r>
                      </m:sub>
                    </m:sSub>
                    <m:r>
                      <m:rPr>
                        <m:sty m:val="p"/>
                      </m:rPr>
                      <m:t>,</m:t>
                    </m:r>
                    <m:r>
                      <m:rPr>
                        <m:sty m:val="p"/>
                      </m:rPr>
                      <m:t>.</m:t>
                    </m:r>
                    <m:r>
                      <m:rPr>
                        <m:sty m:val="p"/>
                      </m:rPr>
                      <m:t>.</m:t>
                    </m:r>
                    <m:r>
                      <m:rPr>
                        <m:sty m:val="p"/>
                      </m:rPr>
                      <m:t>.</m:t>
                    </m:r>
                    <m:r>
                      <m:rPr>
                        <m:sty m:val="p"/>
                      </m:rPr>
                      <m:t>,</m:t>
                    </m:r>
                    <m:sSub>
                      <m:e>
                        <m:r>
                          <m:t>x</m:t>
                        </m:r>
                      </m:e>
                      <m:sub>
                        <m:r>
                          <m:t>n</m:t>
                        </m:r>
                      </m:sub>
                    </m:sSub>
                    <m:r>
                      <m:rPr>
                        <m:sty m:val="p"/>
                      </m:rPr>
                      <m:t>}</m:t>
                    </m:r>
                  </m:oMath>
                </a14:m>
                <a:r>
                  <a:rPr/>
                  <a:t> and </a:t>
                </a:r>
                <a14:m>
                  <m:oMath xmlns:m="http://schemas.openxmlformats.org/officeDocument/2006/math">
                    <m:r>
                      <m:t>A</m:t>
                    </m:r>
                    <m:r>
                      <m:rPr>
                        <m:sty m:val="p"/>
                      </m:rPr>
                      <m:t>=</m:t>
                    </m:r>
                    <m:r>
                      <m:rPr>
                        <m:sty m:val="p"/>
                      </m:rPr>
                      <m:t>{</m:t>
                    </m:r>
                    <m:sSub>
                      <m:e>
                        <m:r>
                          <m:t>a</m:t>
                        </m:r>
                      </m:e>
                      <m:sub>
                        <m:r>
                          <m:t>1</m:t>
                        </m:r>
                      </m:sub>
                    </m:sSub>
                    <m:r>
                      <m:rPr>
                        <m:sty m:val="p"/>
                      </m:rPr>
                      <m:t>,</m:t>
                    </m:r>
                    <m:sSub>
                      <m:e>
                        <m:r>
                          <m:t>a</m:t>
                        </m:r>
                      </m:e>
                      <m:sub>
                        <m:r>
                          <m:t>2</m:t>
                        </m:r>
                      </m:sub>
                    </m:sSub>
                    <m:r>
                      <m:rPr>
                        <m:sty m:val="p"/>
                      </m:rPr>
                      <m:t>,</m:t>
                    </m:r>
                    <m:r>
                      <m:rPr>
                        <m:sty m:val="p"/>
                      </m:rPr>
                      <m:t>.</m:t>
                    </m:r>
                    <m:r>
                      <m:rPr>
                        <m:sty m:val="p"/>
                      </m:rPr>
                      <m:t>.</m:t>
                    </m:r>
                    <m:r>
                      <m:rPr>
                        <m:sty m:val="p"/>
                      </m:rPr>
                      <m:t>.</m:t>
                    </m:r>
                    <m:r>
                      <m:rPr>
                        <m:sty m:val="p"/>
                      </m:rPr>
                      <m:t>,</m:t>
                    </m:r>
                    <m:sSub>
                      <m:e>
                        <m:r>
                          <m:t>a</m:t>
                        </m:r>
                      </m:e>
                      <m:sub>
                        <m:r>
                          <m:t>n</m:t>
                        </m:r>
                      </m:sub>
                    </m:sSub>
                    <m:r>
                      <m:rPr>
                        <m:sty m:val="p"/>
                      </m:rPr>
                      <m:t>}</m:t>
                    </m:r>
                  </m:oMath>
                </a14:m>
                <a:r>
                  <a:rPr/>
                  <a:t>.</a:t>
                </a:r>
              </a:p>
            </p:txBody>
          </p:sp>
        </mc:Choice>
      </mc:AlternateContent>
    </p:spTree>
  </p:cSld>
</p:sld>
</file>

<file path=ppt/slides/slide3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EXAMPLES – Sets as a collection of elements or items</a:t>
                </a:r>
              </a:p>
              <a:p>
                <a:pPr lvl="0" indent="0" marL="1270000">
                  <a:buNone/>
                </a:pPr>
                <a:r>
                  <a:rPr sz="2000"/>
                  <a:t>Sets can be defined in many different ways.</a:t>
                </a:r>
              </a:p>
              <a:p>
                <a:pPr lvl="0" indent="-342900" marL="342900">
                  <a:buAutoNum type="romanLcPeriod"/>
                </a:pPr>
                <a:r>
                  <a:rPr sz="2000"/>
                  <a:t>Consider a set of electronics </a:t>
                </a:r>
                <a14:m>
                  <m:oMath xmlns:m="http://schemas.openxmlformats.org/officeDocument/2006/math">
                    <m:r>
                      <m:t>E</m:t>
                    </m:r>
                  </m:oMath>
                </a14:m>
                <a:r>
                  <a:rPr sz="2000"/>
                  <a:t> = {laptop, phone, tablet, watch} = </a:t>
                </a:r>
                <a14:m>
                  <m:oMath xmlns:m="http://schemas.openxmlformats.org/officeDocument/2006/math">
                    <m:r>
                      <m:rPr>
                        <m:sty m:val="p"/>
                      </m:rPr>
                      <m:t>{</m:t>
                    </m:r>
                    <m:sSub>
                      <m:e>
                        <m:r>
                          <m:t>e</m:t>
                        </m:r>
                      </m:e>
                      <m:sub>
                        <m:r>
                          <m:t>1</m:t>
                        </m:r>
                      </m:sub>
                    </m:sSub>
                    <m:r>
                      <m:rPr>
                        <m:sty m:val="p"/>
                      </m:rPr>
                      <m:t>,</m:t>
                    </m:r>
                    <m:sSub>
                      <m:e>
                        <m:r>
                          <m:t>e</m:t>
                        </m:r>
                      </m:e>
                      <m:sub>
                        <m:r>
                          <m:t>2</m:t>
                        </m:r>
                      </m:sub>
                    </m:sSub>
                    <m:r>
                      <m:rPr>
                        <m:sty m:val="p"/>
                      </m:rPr>
                      <m:t>,</m:t>
                    </m:r>
                    <m:sSub>
                      <m:e>
                        <m:r>
                          <m:t>e</m:t>
                        </m:r>
                      </m:e>
                      <m:sub>
                        <m:r>
                          <m:t>3</m:t>
                        </m:r>
                      </m:sub>
                    </m:sSub>
                    <m:r>
                      <m:rPr>
                        <m:sty m:val="p"/>
                      </m:rPr>
                      <m:t>,</m:t>
                    </m:r>
                    <m:sSub>
                      <m:e>
                        <m:r>
                          <m:t>e</m:t>
                        </m:r>
                      </m:e>
                      <m:sub>
                        <m:r>
                          <m:t>4</m:t>
                        </m:r>
                      </m:sub>
                    </m:sSub>
                    <m:r>
                      <m:rPr>
                        <m:sty m:val="p"/>
                      </m:rPr>
                      <m:t>}</m:t>
                    </m:r>
                  </m:oMath>
                </a14:m>
              </a:p>
              <a:p>
                <a:pPr lvl="0" indent="-342900" marL="342900">
                  <a:buAutoNum type="romanLcPeriod"/>
                </a:pPr>
                <a:r>
                  <a:rPr sz="2000"/>
                  <a:t>Consider a set of friends </a:t>
                </a:r>
                <a14:m>
                  <m:oMath xmlns:m="http://schemas.openxmlformats.org/officeDocument/2006/math">
                    <m:r>
                      <m:t>F</m:t>
                    </m:r>
                  </m:oMath>
                </a14:m>
                <a:r>
                  <a:rPr sz="2000"/>
                  <a:t> = {Akeah, Brandon, Cris, Daveon, Evelyn}</a:t>
                </a:r>
              </a:p>
              <a:p>
                <a:pPr lvl="0" indent="-342900" marL="342900">
                  <a:buAutoNum type="romanLcPeriod"/>
                </a:pPr>
                <a:r>
                  <a:rPr sz="2000"/>
                  <a:t>Consider a set of numbers </a:t>
                </a:r>
                <a14:m>
                  <m:oMath xmlns:m="http://schemas.openxmlformats.org/officeDocument/2006/math">
                    <m: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r>
                  <a:rPr sz="2000"/>
                  <a:t> = </a:t>
                </a:r>
                <a14:m>
                  <m:oMath xmlns:m="http://schemas.openxmlformats.org/officeDocument/2006/math">
                    <m:r>
                      <m:rPr>
                        <m:sty m:val="p"/>
                      </m:rPr>
                      <m:t>{</m:t>
                    </m:r>
                    <m:sSub>
                      <m:e>
                        <m:r>
                          <m:t>n</m:t>
                        </m:r>
                      </m:e>
                      <m:sub>
                        <m:r>
                          <m:t>1</m:t>
                        </m:r>
                      </m:sub>
                    </m:sSub>
                    <m:r>
                      <m:rPr>
                        <m:sty m:val="p"/>
                      </m:rPr>
                      <m:t>,</m:t>
                    </m:r>
                    <m:sSub>
                      <m:e>
                        <m:r>
                          <m:t>n</m:t>
                        </m:r>
                      </m:e>
                      <m:sub>
                        <m:r>
                          <m:t>2</m:t>
                        </m:r>
                      </m:sub>
                    </m:sSub>
                    <m:r>
                      <m:rPr>
                        <m:sty m:val="p"/>
                      </m:rPr>
                      <m:t>,</m:t>
                    </m:r>
                    <m:sSub>
                      <m:e>
                        <m:r>
                          <m:t>n</m:t>
                        </m:r>
                      </m:e>
                      <m:sub>
                        <m:r>
                          <m:t>3</m:t>
                        </m:r>
                      </m:sub>
                    </m:sSub>
                    <m:r>
                      <m:rPr>
                        <m:sty m:val="p"/>
                      </m:rPr>
                      <m:t>,</m:t>
                    </m:r>
                    <m:r>
                      <m:rPr>
                        <m:sty m:val="p"/>
                      </m:rPr>
                      <m:t>.</m:t>
                    </m:r>
                    <m:r>
                      <m:rPr>
                        <m:sty m:val="p"/>
                      </m:rPr>
                      <m:t>.</m:t>
                    </m:r>
                    <m:r>
                      <m:rPr>
                        <m:sty m:val="p"/>
                      </m:rPr>
                      <m:t>.</m:t>
                    </m:r>
                    <m:r>
                      <m:rPr>
                        <m:sty m:val="p"/>
                      </m:rPr>
                      <m:t>}</m:t>
                    </m:r>
                  </m:oMath>
                </a14:m>
                <a:r>
                  <a:rPr sz="2000"/>
                  <a:t>, so </a:t>
                </a:r>
                <a14:m>
                  <m:oMath xmlns:m="http://schemas.openxmlformats.org/officeDocument/2006/math">
                    <m:sSub>
                      <m:e>
                        <m:r>
                          <m:t>n</m:t>
                        </m:r>
                      </m:e>
                      <m:sub>
                        <m:r>
                          <m:t>1</m:t>
                        </m:r>
                      </m:sub>
                    </m:sSub>
                    <m:r>
                      <m:rPr>
                        <m:sty m:val="p"/>
                      </m:rPr>
                      <m:t>=</m:t>
                    </m:r>
                    <m:r>
                      <m:t>1</m:t>
                    </m:r>
                  </m:oMath>
                </a14:m>
                <a:r>
                  <a:rPr sz="2000"/>
                  <a:t>, </a:t>
                </a:r>
                <a14:m>
                  <m:oMath xmlns:m="http://schemas.openxmlformats.org/officeDocument/2006/math">
                    <m:sSub>
                      <m:e>
                        <m:r>
                          <m:t>n</m:t>
                        </m:r>
                      </m:e>
                      <m:sub>
                        <m:r>
                          <m:t>2</m:t>
                        </m:r>
                      </m:sub>
                    </m:sSub>
                    <m:r>
                      <m:rPr>
                        <m:sty m:val="p"/>
                      </m:rPr>
                      <m:t>=</m:t>
                    </m:r>
                    <m:r>
                      <m:t>2</m:t>
                    </m:r>
                  </m:oMath>
                </a14:m>
                <a:r>
                  <a:rPr sz="2000"/>
                  <a:t>, …</a:t>
                </a:r>
              </a:p>
              <a:p>
                <a:pPr lvl="0" indent="-342900" marL="342900">
                  <a:buAutoNum type="romanLcPeriod"/>
                </a:pPr>
                <a:r>
                  <a:rPr sz="2000"/>
                  <a:t>Consider a set of sets </a:t>
                </a:r>
                <a14:m>
                  <m:oMath xmlns:m="http://schemas.openxmlformats.org/officeDocument/2006/math">
                    <m:r>
                      <m:t>S</m:t>
                    </m:r>
                  </m:oMath>
                </a14:m>
                <a:r>
                  <a:rPr sz="2000"/>
                  <a:t> = {{laptop, phone, tablet, watch}, {1, 2, 3, …}, …}</a:t>
                </a:r>
              </a:p>
            </p:txBody>
          </p:sp>
        </mc:Choice>
      </mc:AlternateContent>
    </p:spTree>
  </p:cSld>
</p:sld>
</file>

<file path=ppt/slides/slide3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Quantifying elements of a set allows us to perform mathematical </a:t>
            </a:r>
            <a:r>
              <a:rPr i="1"/>
              <a:t>operations</a:t>
            </a:r>
            <a:r>
              <a:rPr/>
              <a:t> on those elements.</a:t>
            </a:r>
          </a:p>
          <a:p>
            <a:pPr lvl="0" indent="0" marL="0">
              <a:buNone/>
            </a:pPr>
            <a:r>
              <a:rPr/>
              <a:t>Together, the elements and operations combine to create </a:t>
            </a:r>
            <a:r>
              <a:rPr i="1"/>
              <a:t>equations</a:t>
            </a:r>
            <a:r>
              <a:rPr/>
              <a:t>, </a:t>
            </a:r>
            <a:r>
              <a:rPr i="1"/>
              <a:t>functions</a:t>
            </a:r>
            <a:r>
              <a:rPr/>
              <a:t>, and </a:t>
            </a:r>
            <a:r>
              <a:rPr i="1"/>
              <a:t>models</a:t>
            </a:r>
            <a:r>
              <a:rPr/>
              <a:t> that help us understand and communicate details about the elements of a set – which is a form of data.</a:t>
            </a:r>
          </a:p>
          <a:p>
            <a:pPr lvl="0" indent="0" marL="0">
              <a:buNone/>
            </a:pPr>
            <a:r>
              <a:rPr/>
              <a:t>We will need a host of math concepts. The different sets of numbers can be a fun starting point.</a:t>
            </a:r>
          </a:p>
        </p:txBody>
      </p:sp>
    </p:spTree>
  </p:cSld>
</p:sld>
</file>

<file path=ppt/slides/slide3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Sets and numbers</a:t>
            </a:r>
          </a:p>
        </p:txBody>
      </p:sp>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a:t>
                </a:r>
              </a:p>
              <a:p>
                <a:pPr lvl="0" indent="0" marL="1270000">
                  <a:buNone/>
                </a:pPr>
                <a:r>
                  <a:rPr sz="2000"/>
                  <a:t>– Natural numbers: </a:t>
                </a:r>
                <a14:m>
                  <m:oMath xmlns:m="http://schemas.openxmlformats.org/officeDocument/2006/math">
                    <m:r>
                      <m:rPr>
                        <m:sty m:val="p"/>
                        <m:scr m:val="double-struck"/>
                      </m:rPr>
                      <m:t>N</m:t>
                    </m:r>
                    <m:r>
                      <m:rPr>
                        <m:sty m:val="p"/>
                      </m:rPr>
                      <m:t>=</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Whole numbers: </a:t>
                </a:r>
                <a14:m>
                  <m:oMath xmlns:m="http://schemas.openxmlformats.org/officeDocument/2006/math">
                    <m:sSub>
                      <m:e>
                        <m:r>
                          <m:rPr>
                            <m:sty m:val="p"/>
                            <m:scr m:val="double-struck"/>
                          </m:rPr>
                          <m:t>N</m:t>
                        </m:r>
                      </m:e>
                      <m:sub>
                        <m:r>
                          <m:rPr>
                            <m:sty m:val="p"/>
                            <m:scr m:val="double-struck"/>
                          </m:rPr>
                          <m:t>0</m:t>
                        </m:r>
                      </m:sub>
                    </m:sSub>
                    <m:r>
                      <m:rPr>
                        <m:sty m:val="p"/>
                      </m:rPr>
                      <m:t>=</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Integers: </a:t>
                </a:r>
                <a14:m>
                  <m:oMath xmlns:m="http://schemas.openxmlformats.org/officeDocument/2006/math">
                    <m:r>
                      <m:rPr>
                        <m:sty m:val="p"/>
                        <m:scr m:val="double-struck"/>
                      </m:rPr>
                      <m:t>Z</m:t>
                    </m:r>
                    <m:r>
                      <m:rPr>
                        <m:sty m:val="p"/>
                      </m:rPr>
                      <m:t>=</m:t>
                    </m:r>
                    <m:r>
                      <m:rPr>
                        <m:sty m:val="p"/>
                      </m:rPr>
                      <m:t>{</m:t>
                    </m:r>
                    <m:r>
                      <m:rPr>
                        <m:sty m:val="p"/>
                      </m:rPr>
                      <m:t>.</m:t>
                    </m:r>
                    <m:r>
                      <m:rPr>
                        <m:sty m:val="p"/>
                      </m:rPr>
                      <m:t>.</m:t>
                    </m:r>
                    <m:r>
                      <m:rPr>
                        <m:sty m:val="p"/>
                      </m:rPr>
                      <m:t>.</m:t>
                    </m:r>
                    <m:r>
                      <m:rPr>
                        <m:sty m:val="p"/>
                      </m:rPr>
                      <m:t>,</m:t>
                    </m:r>
                    <m:r>
                      <m:rPr>
                        <m:sty m:val="p"/>
                      </m:rPr>
                      <m:t>−</m:t>
                    </m:r>
                    <m:r>
                      <m:t>3</m:t>
                    </m:r>
                    <m:r>
                      <m:rPr>
                        <m:sty m:val="p"/>
                      </m:rPr>
                      <m:t>,</m:t>
                    </m:r>
                    <m:r>
                      <m:rPr>
                        <m:sty m:val="p"/>
                      </m:rPr>
                      <m:t>−</m:t>
                    </m:r>
                    <m:r>
                      <m:t>2</m:t>
                    </m:r>
                    <m:r>
                      <m:rPr>
                        <m:sty m:val="p"/>
                      </m:rPr>
                      <m:t>,</m:t>
                    </m:r>
                    <m:r>
                      <m:rPr>
                        <m:sty m:val="p"/>
                      </m:rPr>
                      <m:t>−</m:t>
                    </m:r>
                    <m:r>
                      <m:t>1</m:t>
                    </m:r>
                    <m:r>
                      <m:rPr>
                        <m:sty m:val="p"/>
                      </m:rPr>
                      <m:t>,</m:t>
                    </m:r>
                    <m:r>
                      <m:t>0</m:t>
                    </m:r>
                    <m:r>
                      <m:rPr>
                        <m:sty m:val="p"/>
                      </m:rPr>
                      <m:t>,</m:t>
                    </m:r>
                    <m:r>
                      <m:t>1</m:t>
                    </m:r>
                    <m:r>
                      <m:rPr>
                        <m:sty m:val="p"/>
                      </m:rPr>
                      <m:t>,</m:t>
                    </m:r>
                    <m:r>
                      <m:t>2</m:t>
                    </m:r>
                    <m:r>
                      <m:rPr>
                        <m:sty m:val="p"/>
                      </m:rPr>
                      <m:t>,</m:t>
                    </m:r>
                    <m:r>
                      <m:t>3</m:t>
                    </m:r>
                    <m:r>
                      <m:rPr>
                        <m:sty m:val="p"/>
                      </m:rPr>
                      <m:t>,</m:t>
                    </m:r>
                    <m:r>
                      <m:rPr>
                        <m:sty m:val="p"/>
                      </m:rPr>
                      <m:t>.</m:t>
                    </m:r>
                    <m:r>
                      <m:rPr>
                        <m:sty m:val="p"/>
                      </m:rPr>
                      <m:t>.</m:t>
                    </m:r>
                    <m:r>
                      <m:rPr>
                        <m:sty m:val="p"/>
                      </m:rPr>
                      <m:t>.</m:t>
                    </m:r>
                    <m:r>
                      <m:rPr>
                        <m:sty m:val="p"/>
                      </m:rPr>
                      <m:t>}</m:t>
                    </m:r>
                  </m:oMath>
                </a14:m>
              </a:p>
              <a:p>
                <a:pPr lvl="0" indent="0" marL="1270000">
                  <a:buNone/>
                </a:pPr>
                <a:r>
                  <a:rPr sz="2000"/>
                  <a:t>– Rational numbers: </a:t>
                </a:r>
                <a14:m>
                  <m:oMath xmlns:m="http://schemas.openxmlformats.org/officeDocument/2006/math">
                    <m:r>
                      <m:rPr>
                        <m:sty m:val="p"/>
                        <m:scr m:val="double-struck"/>
                      </m:rPr>
                      <m:t>Q</m:t>
                    </m:r>
                    <m:r>
                      <m:rPr>
                        <m:sty m:val="p"/>
                      </m:rPr>
                      <m:t>=</m:t>
                    </m:r>
                    <m:d>
                      <m:dPr>
                        <m:begChr m:val="{"/>
                        <m:endChr m:val="}"/>
                        <m:sepChr m:val=""/>
                        <m:grow/>
                      </m:dPr>
                      <m:e>
                        <m:f>
                          <m:fPr>
                            <m:type m:val="bar"/>
                          </m:fPr>
                          <m:num>
                            <m:r>
                              <m:t>p</m:t>
                            </m:r>
                          </m:num>
                          <m:den>
                            <m:r>
                              <m:t>q</m:t>
                            </m:r>
                          </m:den>
                        </m:f>
                        <m:r>
                          <m:rPr>
                            <m:sty m:val="p"/>
                          </m:rPr>
                          <m:t>,</m:t>
                        </m:r>
                        <m:r>
                          <m:t>p</m:t>
                        </m:r>
                        <m:r>
                          <m:rPr>
                            <m:sty m:val="p"/>
                          </m:rPr>
                          <m:t>∈</m:t>
                        </m:r>
                        <m:r>
                          <m:rPr>
                            <m:sty m:val="p"/>
                            <m:scr m:val="double-struck"/>
                          </m:rPr>
                          <m:t>Z</m:t>
                        </m:r>
                        <m:r>
                          <m:rPr>
                            <m:sty m:val="p"/>
                          </m:rPr>
                          <m:t>,</m:t>
                        </m:r>
                        <m:r>
                          <m:t>q</m:t>
                        </m:r>
                        <m:r>
                          <m:rPr>
                            <m:sty m:val="p"/>
                          </m:rPr>
                          <m:t>∈</m:t>
                        </m:r>
                        <m:r>
                          <m:rPr>
                            <m:sty m:val="p"/>
                            <m:scr m:val="double-struck"/>
                          </m:rPr>
                          <m:t>Z</m:t>
                        </m:r>
                        <m:r>
                          <m:rPr>
                            <m:sty m:val="p"/>
                          </m:rPr>
                          <m:t>,</m:t>
                        </m:r>
                        <m:r>
                          <m:t>q</m:t>
                        </m:r>
                        <m:r>
                          <m:rPr>
                            <m:sty m:val="p"/>
                          </m:rPr>
                          <m:t>≠</m:t>
                        </m:r>
                        <m:r>
                          <m:t>0</m:t>
                        </m:r>
                      </m:e>
                    </m:d>
                  </m:oMath>
                </a14:m>
              </a:p>
            </p:txBody>
          </p:sp>
        </mc:Choice>
      </mc:AlternateContent>
    </p:spTree>
  </p:cSld>
</p:sld>
</file>

<file path=ppt/slides/slide3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mc:AlternateContent xmlns:mc="http://schemas.openxmlformats.org/markup-compatibility/2006">
        <mc:Choice xmlns:a14="http://schemas.microsoft.com/office/drawing/2010/main" Requires="a14">
          <p:sp>
            <p:nvSpPr>
              <p:cNvPr id="3" name="Content Placeholder 2"/>
              <p:cNvSpPr>
                <a:spLocks noGrp="1"/>
              </p:cNvSpPr>
              <p:nvPr>
                <p:ph idx="1"/>
              </p:nvPr>
            </p:nvSpPr>
            <p:spPr/>
            <p:txBody>
              <a:bodyPr/>
              <a:lstStyle/>
              <a:p>
                <a:pPr lvl="0" indent="0" marL="1270000">
                  <a:buNone/>
                </a:pPr>
                <a:r>
                  <a:rPr sz="2000" b="1"/>
                  <a:t>DEFINITIONS: Sets of numbers, continued…</a:t>
                </a:r>
              </a:p>
              <a:p>
                <a:pPr lvl="0"/>
                <a:r>
                  <a:rPr sz="2000"/>
                  <a:t>Irrational numbers</a:t>
                </a:r>
              </a:p>
              <a:p>
                <a:pPr lvl="1"/>
                <a:r>
                  <a:rPr sz="2000"/>
                  <a:t>any number that is not a rational number; irrational means </a:t>
                </a:r>
                <a:r>
                  <a:rPr sz="2000" i="1"/>
                  <a:t>not</a:t>
                </a:r>
                <a:r>
                  <a:rPr sz="2000"/>
                  <a:t> rational (no ratio)</a:t>
                </a:r>
              </a:p>
              <a:p>
                <a:pPr lvl="1"/>
                <a:r>
                  <a:rPr sz="2000"/>
                  <a:t>e.g., you may know some irrational numbers such as </a:t>
                </a:r>
                <a14:m>
                  <m:oMath xmlns:m="http://schemas.openxmlformats.org/officeDocument/2006/math">
                    <m:r>
                      <m:t>π</m:t>
                    </m:r>
                  </m:oMath>
                </a14:m>
                <a:r>
                  <a:rPr sz="2000"/>
                  <a:t>, </a:t>
                </a:r>
                <a14:m>
                  <m:oMath xmlns:m="http://schemas.openxmlformats.org/officeDocument/2006/math">
                    <m:rad>
                      <m:radPr>
                        <m:degHide m:val="on"/>
                      </m:radPr>
                      <m:deg/>
                      <m:e>
                        <m:r>
                          <m:t>2</m:t>
                        </m:r>
                      </m:e>
                    </m:rad>
                  </m:oMath>
                </a14:m>
                <a:r>
                  <a:rPr sz="2000"/>
                  <a:t>, </a:t>
                </a:r>
                <a14:m>
                  <m:oMath xmlns:m="http://schemas.openxmlformats.org/officeDocument/2006/math">
                    <m:rad>
                      <m:radPr>
                        <m:degHide m:val="on"/>
                      </m:radPr>
                      <m:deg/>
                      <m:e>
                        <m:r>
                          <m:t>3</m:t>
                        </m:r>
                      </m:e>
                    </m:rad>
                  </m:oMath>
                </a14:m>
                <a:r>
                  <a:rPr sz="2000"/>
                  <a:t>, </a:t>
                </a:r>
                <a14:m>
                  <m:oMath xmlns:m="http://schemas.openxmlformats.org/officeDocument/2006/math">
                    <m:r>
                      <m:t>e</m:t>
                    </m:r>
                  </m:oMath>
                </a14:m>
                <a:r>
                  <a:rPr sz="2000"/>
                  <a:t> (Euler’s number)</a:t>
                </a:r>
              </a:p>
              <a:p>
                <a:pPr lvl="0"/>
                <a:r>
                  <a:rPr sz="2000"/>
                  <a:t>Real numbers: </a:t>
                </a:r>
                <a14:m>
                  <m:oMath xmlns:m="http://schemas.openxmlformats.org/officeDocument/2006/math">
                    <m:r>
                      <m:rPr>
                        <m:sty m:val="p"/>
                        <m:scr m:val="double-struck"/>
                      </m:rPr>
                      <m:t>R</m:t>
                    </m:r>
                  </m:oMath>
                </a14:m>
              </a:p>
              <a:p>
                <a:pPr lvl="1"/>
                <a:r>
                  <a:rPr sz="2000"/>
                  <a:t>The set of numbers on the real number line</a:t>
                </a:r>
              </a:p>
              <a:p>
                <a:pPr lvl="1"/>
                <a:r>
                  <a:rPr sz="2000"/>
                  <a:t>This set is constructed by combining the </a:t>
                </a:r>
                <a:r>
                  <a:rPr sz="2000" i="1"/>
                  <a:t>rational</a:t>
                </a:r>
                <a:r>
                  <a:rPr sz="2000"/>
                  <a:t> and </a:t>
                </a:r>
                <a:r>
                  <a:rPr sz="2000" i="1"/>
                  <a:t>irrational</a:t>
                </a:r>
                <a:r>
                  <a:rPr sz="2000"/>
                  <a:t> numbers</a:t>
                </a:r>
              </a:p>
              <a:p>
                <a:pPr lvl="0"/>
                <a:r>
                  <a:rPr sz="2000"/>
                  <a:t>Imaginary numbers: </a:t>
                </a:r>
                <a14:m>
                  <m:oMath xmlns:m="http://schemas.openxmlformats.org/officeDocument/2006/math">
                    <m:r>
                      <m:rPr>
                        <m:sty m:val="p"/>
                        <m:scr m:val="double-struck"/>
                      </m:rPr>
                      <m:t>I</m:t>
                    </m:r>
                  </m:oMath>
                </a14:m>
              </a:p>
              <a:p>
                <a:pPr lvl="1"/>
                <a:r>
                  <a:rPr sz="2000"/>
                  <a:t>a number that has a negative value when it is squared</a:t>
                </a:r>
              </a:p>
              <a:p>
                <a:pPr lvl="1"/>
                <a14:m>
                  <m:oMath xmlns:m="http://schemas.openxmlformats.org/officeDocument/2006/math">
                    <m:r>
                      <m:t>i</m:t>
                    </m:r>
                  </m:oMath>
                </a14:m>
                <a:r>
                  <a:rPr sz="2000"/>
                  <a:t> is the unit imaginary number, </a:t>
                </a:r>
                <a14:m>
                  <m:oMath xmlns:m="http://schemas.openxmlformats.org/officeDocument/2006/math">
                    <m:rad>
                      <m:radPr>
                        <m:degHide m:val="on"/>
                      </m:radPr>
                      <m:deg/>
                      <m:e>
                        <m:r>
                          <m:rPr>
                            <m:sty m:val="p"/>
                          </m:rPr>
                          <m:t>−</m:t>
                        </m:r>
                        <m:r>
                          <m:t>1</m:t>
                        </m:r>
                      </m:e>
                    </m:rad>
                    <m:r>
                      <m:rPr>
                        <m:sty m:val="p"/>
                      </m:rPr>
                      <m:t>=</m:t>
                    </m:r>
                    <m:r>
                      <m:t>i</m:t>
                    </m:r>
                  </m:oMath>
                </a14:m>
                <a:r>
                  <a:rPr sz="2000"/>
                  <a:t> by definition</a:t>
                </a:r>
              </a:p>
              <a:p>
                <a:pPr lvl="1"/>
                <a:r>
                  <a:rPr sz="2000"/>
                  <a:t>so </a:t>
                </a:r>
                <a14:m>
                  <m:oMath xmlns:m="http://schemas.openxmlformats.org/officeDocument/2006/math">
                    <m:r>
                      <m:t>i</m:t>
                    </m:r>
                  </m:oMath>
                </a14:m>
                <a:r>
                  <a:rPr sz="2000"/>
                  <a:t> is a complex number since </a:t>
                </a:r>
                <a14:m>
                  <m:oMath xmlns:m="http://schemas.openxmlformats.org/officeDocument/2006/math">
                    <m:sSup>
                      <m:e>
                        <m:r>
                          <m:t>i</m:t>
                        </m:r>
                      </m:e>
                      <m:sup>
                        <m:r>
                          <m:t>2</m:t>
                        </m:r>
                      </m:sup>
                    </m:sSup>
                    <m:r>
                      <m:rPr>
                        <m:sty m:val="p"/>
                      </m:rPr>
                      <m:t>=</m:t>
                    </m:r>
                    <m:r>
                      <m:rPr>
                        <m:sty m:val="p"/>
                      </m:rPr>
                      <m:t>−</m:t>
                    </m:r>
                    <m:r>
                      <m:t>1</m:t>
                    </m:r>
                  </m:oMath>
                </a14:m>
              </a:p>
              <a:p>
                <a:pPr lvl="0"/>
                <a:r>
                  <a:rPr sz="2000"/>
                  <a:t>Complex numbers: </a:t>
                </a:r>
                <a14:m>
                  <m:oMath xmlns:m="http://schemas.openxmlformats.org/officeDocument/2006/math">
                    <m:r>
                      <m:rPr>
                        <m:sty m:val="p"/>
                        <m:scr m:val="double-struck"/>
                      </m:rPr>
                      <m:t>C</m:t>
                    </m:r>
                  </m:oMath>
                </a14:m>
              </a:p>
              <a:p>
                <a:pPr lvl="1"/>
                <a:r>
                  <a:rPr sz="2000"/>
                  <a:t>a number in the form </a:t>
                </a:r>
                <a14:m>
                  <m:oMath xmlns:m="http://schemas.openxmlformats.org/officeDocument/2006/math">
                    <m:r>
                      <m:t>a</m:t>
                    </m:r>
                    <m:r>
                      <m:rPr>
                        <m:sty m:val="p"/>
                      </m:rPr>
                      <m:t>+</m:t>
                    </m:r>
                    <m:r>
                      <m:t>b</m:t>
                    </m:r>
                    <m:r>
                      <m:t>i</m:t>
                    </m:r>
                  </m:oMath>
                </a14:m>
                <a:r>
                  <a:rPr sz="2000"/>
                  <a:t> where </a:t>
                </a:r>
                <a14:m>
                  <m:oMath xmlns:m="http://schemas.openxmlformats.org/officeDocument/2006/math">
                    <m:r>
                      <m:t>a</m:t>
                    </m:r>
                    <m:r>
                      <m:rPr>
                        <m:sty m:val="p"/>
                      </m:rPr>
                      <m:t>∈</m:t>
                    </m:r>
                    <m:r>
                      <m:rPr>
                        <m:sty m:val="p"/>
                        <m:scr m:val="double-struck"/>
                      </m:rPr>
                      <m:t>R</m:t>
                    </m:r>
                  </m:oMath>
                </a14:m>
                <a:r>
                  <a:rPr sz="2000"/>
                  <a:t>, </a:t>
                </a:r>
                <a14:m>
                  <m:oMath xmlns:m="http://schemas.openxmlformats.org/officeDocument/2006/math">
                    <m:r>
                      <m:t>b</m:t>
                    </m:r>
                    <m:r>
                      <m:rPr>
                        <m:sty m:val="p"/>
                      </m:rPr>
                      <m:t>∈</m:t>
                    </m:r>
                    <m:r>
                      <m:rPr>
                        <m:sty m:val="p"/>
                        <m:scr m:val="double-struck"/>
                      </m:rPr>
                      <m:t>R</m:t>
                    </m:r>
                  </m:oMath>
                </a14:m>
                <a:r>
                  <a:rPr sz="2000"/>
                  <a:t>, and </a:t>
                </a:r>
                <a14:m>
                  <m:oMath xmlns:m="http://schemas.openxmlformats.org/officeDocument/2006/math">
                    <m:r>
                      <m:t>i</m:t>
                    </m:r>
                  </m:oMath>
                </a14:m>
                <a:r>
                  <a:rPr sz="2000"/>
                  <a:t> is an imaginary number</a:t>
                </a:r>
              </a:p>
            </p:txBody>
          </p:sp>
        </mc:Choice>
      </mc:AlternateContent>
    </p:spTree>
  </p:cSld>
</p:sld>
</file>

<file path=ppt/slides/slide3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Part III: Code</a:t>
            </a:r>
          </a:p>
        </p:txBody>
      </p:sp>
    </p:spTree>
  </p:cSld>
</p:sld>
</file>

<file path=ppt/slides/slide3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Getting started in RStudio</a:t>
            </a:r>
          </a:p>
        </p:txBody>
      </p:sp>
      <p:sp>
        <p:nvSpPr>
          <p:cNvPr id="3" name="Content Placeholder 2"/>
          <p:cNvSpPr>
            <a:spLocks noGrp="1"/>
          </p:cNvSpPr>
          <p:nvPr>
            <p:ph idx="1"/>
          </p:nvPr>
        </p:nvSpPr>
        <p:spPr/>
        <p:txBody>
          <a:bodyPr/>
          <a:lstStyle/>
          <a:p>
            <a:pPr lvl="0" indent="0" marL="0">
              <a:buNone/>
            </a:pPr>
            <a:r>
              <a:rPr/>
              <a:t>In </a:t>
            </a:r>
            <a:r>
              <a:rPr>
                <a:hlinkClick r:id="rId2"/>
              </a:rPr>
              <a:t>Lab 0</a:t>
            </a:r>
            <a:r>
              <a:rPr/>
              <a:t>, you downloaded and installed base R and RStudio. In this section, we will learn more about R and RStudio.</a:t>
            </a:r>
          </a:p>
          <a:p>
            <a:pPr lvl="0" indent="0" marL="0">
              <a:buNone/>
            </a:pPr>
            <a:r>
              <a:rPr/>
              <a:t>Let’s start with a little fun!</a:t>
            </a:r>
          </a:p>
        </p:txBody>
      </p:sp>
    </p:spTree>
  </p:cSld>
</p:sld>
</file>

<file path=ppt/slides/slide3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First, install the ‘praise’ package.</a:t>
            </a:r>
          </a:p>
        </p:txBody>
      </p:sp>
    </p:spTree>
  </p:cSld>
</p:sld>
</file>

<file path=ppt/slides/slide3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Next, load the library for the ‘praise’ package.</a:t>
            </a:r>
          </a:p>
        </p:txBody>
      </p:sp>
    </p:spTree>
  </p:cSld>
</p:sld>
</file>

<file path=ppt/slides/slide3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Now, get some praise!</a:t>
            </a:r>
          </a:p>
          <a:p>
            <a:pPr lvl="0" indent="0" marL="0">
              <a:buNone/>
            </a:pPr>
            <a:r>
              <a:rPr/>
              <a:t>You can keep inserting the code above to get praise when you need it!</a:t>
            </a:r>
          </a:p>
        </p:txBody>
      </p:sp>
    </p:spTree>
  </p:cSld>
</p:sld>
</file>

<file path=ppt/slides/slide4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Arithmetic in R</a:t>
            </a:r>
          </a:p>
        </p:txBody>
      </p:sp>
      <p:sp>
        <p:nvSpPr>
          <p:cNvPr id="3" name="Content Placeholder 2"/>
          <p:cNvSpPr>
            <a:spLocks noGrp="1"/>
          </p:cNvSpPr>
          <p:nvPr>
            <p:ph idx="1"/>
          </p:nvPr>
        </p:nvSpPr>
        <p:spPr/>
        <p:txBody>
          <a:bodyPr/>
          <a:lstStyle/>
          <a:p>
            <a:pPr lvl="0" indent="0" marL="0">
              <a:buNone/>
            </a:pPr>
            <a:r>
              <a:rPr/>
              <a:t>We will learn how to calculate values in R.</a:t>
            </a:r>
          </a:p>
        </p:txBody>
      </p:sp>
    </p:spTree>
  </p:cSld>
</p:sld>
</file>

<file path=ppt/slides/slide4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3</a:t>
            </a:r>
          </a:p>
        </p:txBody>
      </p:sp>
    </p:spTree>
  </p:cSld>
</p:sld>
</file>

<file path=ppt/slides/slide4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a:t>
            </a:r>
          </a:p>
        </p:txBody>
      </p:sp>
    </p:spTree>
  </p:cSld>
</p:sld>
</file>

<file path=ppt/slides/slide4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12</a:t>
            </a:r>
          </a:p>
        </p:txBody>
      </p:sp>
    </p:spTree>
  </p:cSld>
</p:sld>
</file>

<file path=ppt/slides/slide44.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0.8</a:t>
            </a:r>
          </a:p>
        </p:txBody>
      </p:sp>
    </p:spTree>
  </p:cSld>
</p:sld>
</file>

<file path=ppt/slides/slide45.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a:buNone/>
            </a:pPr>
            <a:r>
              <a:rPr>
                <a:latin typeface="Courier"/>
              </a:rPr>
              <a:t>[1] 5050</a:t>
            </a:r>
          </a:p>
        </p:txBody>
      </p:sp>
    </p:spTree>
  </p:cSld>
</p:sld>
</file>

<file path=ppt/slides/slide46.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pPr lvl="0" indent="0" marL="0">
              <a:buNone/>
            </a:pPr>
            <a:r>
              <a:rPr/>
              <a:t>Variables in R</a:t>
            </a:r>
          </a:p>
        </p:txBody>
      </p:sp>
      <p:sp>
        <p:nvSpPr>
          <p:cNvPr id="3" name="Content Placeholder 2"/>
          <p:cNvSpPr>
            <a:spLocks noGrp="1"/>
          </p:cNvSpPr>
          <p:nvPr>
            <p:ph idx="1"/>
          </p:nvPr>
        </p:nvSpPr>
        <p:spPr/>
        <p:txBody>
          <a:bodyPr/>
          <a:lstStyle/>
          <a:p>
            <a:pPr lvl="0" indent="0" marL="0">
              <a:buNone/>
            </a:pPr>
            <a:r>
              <a:rPr/>
              <a:t>We will learn to give a variable (or character) a value.</a:t>
            </a:r>
          </a:p>
        </p:txBody>
      </p:sp>
    </p:spTree>
  </p:cSld>
</p:sld>
</file>

<file path=ppt/slides/slide47.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Use the different assignment operators</a:t>
            </a:r>
          </a:p>
          <a:p>
            <a:pPr lvl="0" indent="0">
              <a:buNone/>
            </a:pPr>
            <a:r>
              <a:rPr>
                <a:latin typeface="Courier"/>
              </a:rPr>
              <a:t>[1] 2</a:t>
            </a:r>
          </a:p>
        </p:txBody>
      </p:sp>
    </p:spTree>
  </p:cSld>
</p:sld>
</file>

<file path=ppt/slides/slide48.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x equal to two added to three</a:t>
            </a:r>
          </a:p>
          <a:p>
            <a:pPr lvl="0" indent="0">
              <a:buNone/>
            </a:pPr>
            <a:r>
              <a:rPr>
                <a:latin typeface="Courier"/>
              </a:rPr>
              <a:t>[1] 5</a:t>
            </a:r>
          </a:p>
        </p:txBody>
      </p:sp>
    </p:spTree>
  </p:cSld>
</p:sld>
</file>

<file path=ppt/slides/slide49.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y equal to two minus three</a:t>
            </a:r>
          </a:p>
          <a:p>
            <a:pPr lvl="0" indent="0">
              <a:buNone/>
            </a:pPr>
            <a:r>
              <a:rPr>
                <a:latin typeface="Courier"/>
              </a:rPr>
              <a:t>[1] -1</a:t>
            </a:r>
          </a:p>
        </p:txBody>
      </p:sp>
    </p:spTree>
  </p:cSld>
</p:sld>
</file>

<file path=ppt/slides/slide50.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Set z equal to two times three</a:t>
            </a:r>
          </a:p>
          <a:p>
            <a:pPr lvl="0" indent="0">
              <a:buNone/>
            </a:pPr>
            <a:r>
              <a:rPr>
                <a:latin typeface="Courier"/>
              </a:rPr>
              <a:t>[1] 6</a:t>
            </a:r>
          </a:p>
        </p:txBody>
      </p:sp>
    </p:spTree>
  </p:cSld>
</p:sld>
</file>

<file path=ppt/slides/slide51.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Overwrite the value of y by setting y equal to x divided by z</a:t>
            </a:r>
          </a:p>
          <a:p>
            <a:pPr lvl="0" indent="0">
              <a:buNone/>
            </a:pPr>
            <a:r>
              <a:rPr>
                <a:latin typeface="Courier"/>
              </a:rPr>
              <a:t>[1] 0.8333333</a:t>
            </a:r>
          </a:p>
        </p:txBody>
      </p:sp>
    </p:spTree>
  </p:cSld>
</p:sld>
</file>

<file path=ppt/slides/slide52.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3" name="Content Placeholder 2"/>
          <p:cNvSpPr>
            <a:spLocks noGrp="1"/>
          </p:cNvSpPr>
          <p:nvPr>
            <p:ph idx="1"/>
          </p:nvPr>
        </p:nvSpPr>
        <p:spPr/>
        <p:txBody>
          <a:bodyPr/>
          <a:lstStyle/>
          <a:p>
            <a:pPr lvl="0" indent="0" marL="0">
              <a:buNone/>
            </a:pPr>
            <a:r>
              <a:rPr/>
              <a:t>In the next module, we will continue our explorations in R by learning how to load data sets into our data frame, and perform some basic operations using some additional packages. These packages will allow us to consider how we can construct original data sets to develop unique questions for our analysis.</a:t>
            </a:r>
          </a:p>
        </p:txBody>
      </p:sp>
    </p:spTree>
  </p:cSld>
</p:sld>
</file>

<file path=ppt/slides/slide53.xml><?xml version="1.0" encoding="utf-8"?>
<p:sld xmlns:a="http://schemas.openxmlformats.org/drawingml/2006/main" xmlns:r="http://schemas.openxmlformats.org/officeDocument/2006/relationships" xmlns:p="http://schemas.openxmlformats.org/presentationml/2006/main">
  <p:cSld>
    <p:spTree>
      <p:nvGrpSpPr>
        <p:cNvPr id="1" name=""/>
        <p:cNvGrpSpPr/>
        <p:nvPr/>
      </p:nvGrpSpPr>
      <p:grpSpPr>
        <a:xfrm>
          <a:off x="0" y="0"/>
          <a:ext cx="0" cy="0"/>
          <a:chOff x="0" y="0"/>
          <a:chExt cx="0" cy="0"/>
        </a:xfrm>
      </p:grpSpPr>
      <p:sp>
        <p:nvSpPr>
          <p:cNvPr id="2" name="Title 1"/>
          <p:cNvSpPr>
            <a:spLocks noGrp="1"/>
          </p:cNvSpPr>
          <p:nvPr>
            <p:ph type="title"/>
          </p:nvPr>
        </p:nvSpPr>
        <p:spPr>
          <a:xfrm>
            <a:off x="722313" y="3305176"/>
            <a:ext cx="7772400" cy="1021556"/>
          </a:xfrm>
        </p:spPr>
        <p:txBody>
          <a:bodyPr/>
          <a:lstStyle/>
          <a:p>
            <a:pPr lvl="0" indent="0" marL="0">
              <a:buNone/>
            </a:pPr>
            <a:r>
              <a:rPr/>
              <a:t>References</a:t>
            </a:r>
          </a:p>
        </p:txBody>
      </p:sp>
    </p:spTree>
  </p:cSld>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ppt/theme/theme2.xml><?xml version="1.0" encoding="utf-8"?>
<a:theme xmlns:a="http://schemas.openxmlformats.org/drawingml/2006/main" name="Office Theme">
  <a:themeElements>
    <a:clrScheme name="Office">
      <a:dk1>
        <a:sysClr val="windowText" lastClr="000000"/>
      </a:dk1>
      <a:lt1>
        <a:sysClr val="window" lastClr="FFFFFF"/>
      </a:lt1>
      <a:dk2>
        <a:srgbClr val="44546A"/>
      </a:dk2>
      <a:lt2>
        <a:srgbClr val="E7E6E6"/>
      </a:lt2>
      <a:accent1>
        <a:srgbClr val="5B9BD5"/>
      </a:accent1>
      <a:accent2>
        <a:srgbClr val="ED7D31"/>
      </a:accent2>
      <a:accent3>
        <a:srgbClr val="A5A5A5"/>
      </a:accent3>
      <a:accent4>
        <a:srgbClr val="FFC000"/>
      </a:accent4>
      <a:accent5>
        <a:srgbClr val="4472C4"/>
      </a:accent5>
      <a:accent6>
        <a:srgbClr val="70AD47"/>
      </a:accent6>
      <a:hlink>
        <a:srgbClr val="0563C1"/>
      </a:hlink>
      <a:folHlink>
        <a:srgbClr val="954F72"/>
      </a:folHlink>
    </a:clrScheme>
    <a:fontScheme name="Office">
      <a:majorFont>
        <a:latin typeface="Calibri Light" panose="020F0302020204030204"/>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panose="020F0502020204030204"/>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lumMod val="110000"/>
                <a:satMod val="105000"/>
                <a:tint val="67000"/>
              </a:schemeClr>
            </a:gs>
            <a:gs pos="50000">
              <a:schemeClr val="phClr">
                <a:lumMod val="105000"/>
                <a:satMod val="103000"/>
                <a:tint val="73000"/>
              </a:schemeClr>
            </a:gs>
            <a:gs pos="100000">
              <a:schemeClr val="phClr">
                <a:lumMod val="105000"/>
                <a:satMod val="109000"/>
                <a:tint val="81000"/>
              </a:schemeClr>
            </a:gs>
          </a:gsLst>
          <a:lin ang="5400000" scaled="0"/>
        </a:gradFill>
        <a:gradFill rotWithShape="1">
          <a:gsLst>
            <a:gs pos="0">
              <a:schemeClr val="phClr">
                <a:satMod val="103000"/>
                <a:lumMod val="102000"/>
                <a:tint val="94000"/>
              </a:schemeClr>
            </a:gs>
            <a:gs pos="50000">
              <a:schemeClr val="phClr">
                <a:satMod val="110000"/>
                <a:lumMod val="100000"/>
                <a:shade val="100000"/>
              </a:schemeClr>
            </a:gs>
            <a:gs pos="100000">
              <a:schemeClr val="phClr">
                <a:lumMod val="99000"/>
                <a:satMod val="120000"/>
                <a:shade val="78000"/>
              </a:schemeClr>
            </a:gs>
          </a:gsLst>
          <a:lin ang="5400000" scaled="0"/>
        </a:gradFill>
      </a:fillStyleLst>
      <a:lnStyleLst>
        <a:ln w="6350" cap="flat" cmpd="sng" algn="ctr">
          <a:solidFill>
            <a:schemeClr val="phClr"/>
          </a:solidFill>
          <a:prstDash val="solid"/>
          <a:miter lim="800000"/>
        </a:ln>
        <a:ln w="12700" cap="flat" cmpd="sng" algn="ctr">
          <a:solidFill>
            <a:schemeClr val="phClr"/>
          </a:solidFill>
          <a:prstDash val="solid"/>
          <a:miter lim="800000"/>
        </a:ln>
        <a:ln w="19050" cap="flat" cmpd="sng" algn="ctr">
          <a:solidFill>
            <a:schemeClr val="phClr"/>
          </a:solidFill>
          <a:prstDash val="solid"/>
          <a:miter lim="800000"/>
        </a:ln>
      </a:lnStyleLst>
      <a:effectStyleLst>
        <a:effectStyle>
          <a:effectLst/>
        </a:effectStyle>
        <a:effectStyle>
          <a:effectLst/>
        </a:effectStyle>
        <a:effectStyle>
          <a:effectLst>
            <a:outerShdw blurRad="57150" dist="19050" dir="5400000" algn="ctr" rotWithShape="0">
              <a:srgbClr val="000000">
                <a:alpha val="63000"/>
              </a:srgbClr>
            </a:outerShdw>
          </a:effectLst>
        </a:effectStyle>
      </a:effectStyleLst>
      <a:bgFillStyleLst>
        <a:solidFill>
          <a:schemeClr val="phClr"/>
        </a:solidFill>
        <a:solidFill>
          <a:schemeClr val="phClr">
            <a:tint val="95000"/>
            <a:satMod val="170000"/>
          </a:schemeClr>
        </a:solidFill>
        <a:gradFill rotWithShape="1">
          <a:gsLst>
            <a:gs pos="0">
              <a:schemeClr val="phClr">
                <a:tint val="93000"/>
                <a:satMod val="150000"/>
                <a:shade val="98000"/>
                <a:lumMod val="102000"/>
              </a:schemeClr>
            </a:gs>
            <a:gs pos="50000">
              <a:schemeClr val="phClr">
                <a:tint val="98000"/>
                <a:satMod val="130000"/>
                <a:shade val="90000"/>
                <a:lumMod val="103000"/>
              </a:schemeClr>
            </a:gs>
            <a:gs pos="100000">
              <a:schemeClr val="phClr">
                <a:shade val="63000"/>
                <a:satMod val="120000"/>
              </a:schemeClr>
            </a:gs>
          </a:gsLst>
          <a:lin ang="5400000" scaled="0"/>
        </a:gradFill>
      </a:bgFillStyleLst>
    </a:fmtScheme>
  </a:themeElements>
  <a:objectDefaults/>
  <a:extraClrSchemeLst/>
  <a:extLst>
    <a:ext uri="{05A4C25C-085E-4340-85A3-A5531E510DB2}">
      <thm15:themeFamily xmlns:thm15="http://schemas.microsoft.com/office/thememl/2012/main" name="Office Theme" id="{62F939B6-93AF-4DB8-9C6B-D6C7DFDC589F}" vid="{4A3C46E8-61CC-4603-A589-7422A47A8E4A}"/>
    </a:ext>
  </a:extLst>
</a:theme>
</file>

<file path=docProps/app.xml><?xml version="1.0" encoding="utf-8"?>
<Properties xmlns="http://schemas.openxmlformats.org/officeDocument/2006/extended-properties" xmlns:vt="http://schemas.openxmlformats.org/officeDocument/2006/docPropsVTypes">
  <TotalTime>2</TotalTime>
  <Words>49</Words>
  <Application>Microsoft Macintosh PowerPoint</Application>
  <PresentationFormat>On-screen Show (16:9)</PresentationFormat>
  <Paragraphs>15</Paragraphs>
  <Slides>4</Slides>
  <Notes>2</Notes>
  <HiddenSlides>0</HiddenSlides>
  <MMClips>0</MMClips>
  <ScaleCrop>false</ScaleCrop>
  <HeadingPairs>
    <vt:vector size="6" baseType="variant">
      <vt:variant>
        <vt:lpstr>Fonts Used</vt:lpstr>
      </vt:variant>
      <vt:variant>
        <vt:i4>2</vt:i4>
      </vt:variant>
      <vt:variant>
        <vt:lpstr>Theme</vt:lpstr>
      </vt:variant>
      <vt:variant>
        <vt:i4>1</vt:i4>
      </vt:variant>
      <vt:variant>
        <vt:lpstr>Slide Titles</vt:lpstr>
      </vt:variant>
      <vt:variant>
        <vt:i4>4</vt:i4>
      </vt:variant>
    </vt:vector>
  </HeadingPairs>
  <TitlesOfParts>
    <vt:vector size="7" baseType="lpstr">
      <vt:lpstr>Arial</vt:lpstr>
      <vt:lpstr>Calibri</vt:lpstr>
      <vt:lpstr>Office Theme</vt:lpstr>
      <vt:lpstr>Presentation Title</vt:lpstr>
      <vt:lpstr>Slide Title</vt:lpstr>
      <vt:lpstr>Section header</vt:lpstr>
      <vt:lpstr>Slide Title for Two-Content</vt:lpstr>
    </vt:vector>
  </TitlesOfParts>
  <Company/>
  <LinksUpToDate>false</LinksUpToDate>
  <SharedDoc>false</SharedDoc>
  <HyperlinksChanged>false</HyperlinksChanged>
  <AppVersion>16.0000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DATA 202 - Week 2</dc:title>
  <dc:creator>Nathan Alexander, PhD</dc:creator>
  <cp:keywords/>
  <dcterms:created xsi:type="dcterms:W3CDTF">2025-10-29T20:44:52Z</dcterms:created>
  <dcterms:modified xsi:type="dcterms:W3CDTF">2025-10-29T20:44:52Z</dcterms:modified>
</cp:coreProperties>
</file>

<file path=docProps/custom.xml><?xml version="1.0" encoding="utf-8"?>
<Properties xmlns="http://schemas.openxmlformats.org/officeDocument/2006/custom-properties" xmlns:vt="http://schemas.openxmlformats.org/officeDocument/2006/docPropsVTypes">
  <property fmtid="{D5CDD505-2E9C-101B-9397-08002B2CF9AE}" pid="2" name="affiliations">
    <vt:lpwstr/>
  </property>
  <property fmtid="{D5CDD505-2E9C-101B-9397-08002B2CF9AE}" pid="3" name="authors">
    <vt:lpwstr/>
  </property>
  <property fmtid="{D5CDD505-2E9C-101B-9397-08002B2CF9AE}" pid="4" name="biblio-config">
    <vt:lpwstr>True</vt:lpwstr>
  </property>
  <property fmtid="{D5CDD505-2E9C-101B-9397-08002B2CF9AE}" pid="5" name="bibliography">
    <vt:lpwstr>references.bib</vt:lpwstr>
  </property>
  <property fmtid="{D5CDD505-2E9C-101B-9397-08002B2CF9AE}" pid="6" name="by-affiliation">
    <vt:lpwstr/>
  </property>
  <property fmtid="{D5CDD505-2E9C-101B-9397-08002B2CF9AE}" pid="7" name="by-author">
    <vt:lpwstr/>
  </property>
  <property fmtid="{D5CDD505-2E9C-101B-9397-08002B2CF9AE}" pid="8" name="csl">
    <vt:lpwstr>apa.csl</vt:lpwstr>
  </property>
  <property fmtid="{D5CDD505-2E9C-101B-9397-08002B2CF9AE}" pid="9" name="editor">
    <vt:lpwstr>visual</vt:lpwstr>
  </property>
  <property fmtid="{D5CDD505-2E9C-101B-9397-08002B2CF9AE}" pid="10" name="editor_options">
    <vt:lpwstr/>
  </property>
  <property fmtid="{D5CDD505-2E9C-101B-9397-08002B2CF9AE}" pid="11" name="fig_caption">
    <vt:lpwstr>True</vt:lpwstr>
  </property>
  <property fmtid="{D5CDD505-2E9C-101B-9397-08002B2CF9AE}" pid="12" name="geometry">
    <vt:lpwstr>margin=1.0in</vt:lpwstr>
  </property>
  <property fmtid="{D5CDD505-2E9C-101B-9397-08002B2CF9AE}" pid="13" name="header-includes">
    <vt:lpwstr/>
  </property>
  <property fmtid="{D5CDD505-2E9C-101B-9397-08002B2CF9AE}" pid="14" name="include-after">
    <vt:lpwstr/>
  </property>
  <property fmtid="{D5CDD505-2E9C-101B-9397-08002B2CF9AE}" pid="15" name="include-before">
    <vt:lpwstr/>
  </property>
  <property fmtid="{D5CDD505-2E9C-101B-9397-08002B2CF9AE}" pid="16" name="institute">
    <vt:lpwstr>Center for Applied Data Science and Analytics</vt:lpwstr>
  </property>
  <property fmtid="{D5CDD505-2E9C-101B-9397-08002B2CF9AE}" pid="17" name="institutes">
    <vt:lpwstr/>
  </property>
  <property fmtid="{D5CDD505-2E9C-101B-9397-08002B2CF9AE}" pid="18" name="labels">
    <vt:lpwstr/>
  </property>
  <property fmtid="{D5CDD505-2E9C-101B-9397-08002B2CF9AE}" pid="19" name="reference_docx">
    <vt:lpwstr>word-styles-reference.docx</vt:lpwstr>
  </property>
  <property fmtid="{D5CDD505-2E9C-101B-9397-08002B2CF9AE}" pid="20" name="subtitle">
    <vt:lpwstr>Foundations</vt:lpwstr>
  </property>
  <property fmtid="{D5CDD505-2E9C-101B-9397-08002B2CF9AE}" pid="21" name="toc-title">
    <vt:lpwstr>Table of contents</vt:lpwstr>
  </property>
</Properties>
</file>